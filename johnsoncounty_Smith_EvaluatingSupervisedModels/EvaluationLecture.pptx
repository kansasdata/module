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9" r:id="rId3"/>
    <p:sldId id="257" r:id="rId4"/>
    <p:sldId id="259" r:id="rId5"/>
    <p:sldId id="260" r:id="rId6"/>
    <p:sldId id="261" r:id="rId7"/>
    <p:sldId id="264" r:id="rId8"/>
    <p:sldId id="262" r:id="rId9"/>
    <p:sldId id="271" r:id="rId10"/>
    <p:sldId id="274" r:id="rId11"/>
    <p:sldId id="272" r:id="rId12"/>
    <p:sldId id="273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14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B78D8-8E47-4A32-97D3-16230CDCBB6A}" type="datetimeFigureOut">
              <a:rPr lang="en-US" smtClean="0"/>
              <a:t>3/10/2025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EDE1C-4C8F-4E17-9F9A-D3329EDA8FA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4796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B78D8-8E47-4A32-97D3-16230CDCBB6A}" type="datetimeFigureOut">
              <a:rPr lang="en-US" smtClean="0"/>
              <a:t>3/10/2025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EDE1C-4C8F-4E17-9F9A-D3329EDA8FA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010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B78D8-8E47-4A32-97D3-16230CDCBB6A}" type="datetimeFigureOut">
              <a:rPr lang="en-US" smtClean="0"/>
              <a:t>3/10/2025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EDE1C-4C8F-4E17-9F9A-D3329EDA8FA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11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B78D8-8E47-4A32-97D3-16230CDCBB6A}" type="datetimeFigureOut">
              <a:rPr lang="en-US" smtClean="0"/>
              <a:t>3/10/2025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EDE1C-4C8F-4E17-9F9A-D3329EDA8FA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8281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B78D8-8E47-4A32-97D3-16230CDCBB6A}" type="datetimeFigureOut">
              <a:rPr lang="en-US" smtClean="0"/>
              <a:t>3/10/2025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EDE1C-4C8F-4E17-9F9A-D3329EDA8FA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396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B78D8-8E47-4A32-97D3-16230CDCBB6A}" type="datetimeFigureOut">
              <a:rPr lang="en-US" smtClean="0"/>
              <a:t>3/10/2025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EDE1C-4C8F-4E17-9F9A-D3329EDA8FA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832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B78D8-8E47-4A32-97D3-16230CDCBB6A}" type="datetimeFigureOut">
              <a:rPr lang="en-US" smtClean="0"/>
              <a:t>3/10/2025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EDE1C-4C8F-4E17-9F9A-D3329EDA8FA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8415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B78D8-8E47-4A32-97D3-16230CDCBB6A}" type="datetimeFigureOut">
              <a:rPr lang="en-US" smtClean="0"/>
              <a:t>3/10/2025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EDE1C-4C8F-4E17-9F9A-D3329EDA8FA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270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B78D8-8E47-4A32-97D3-16230CDCBB6A}" type="datetimeFigureOut">
              <a:rPr lang="en-US" smtClean="0"/>
              <a:t>3/10/2025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EDE1C-4C8F-4E17-9F9A-D3329EDA8FA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5641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B78D8-8E47-4A32-97D3-16230CDCBB6A}" type="datetimeFigureOut">
              <a:rPr lang="en-US" smtClean="0"/>
              <a:t>3/10/2025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EDE1C-4C8F-4E17-9F9A-D3329EDA8FA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912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B78D8-8E47-4A32-97D3-16230CDCBB6A}" type="datetimeFigureOut">
              <a:rPr lang="en-US" smtClean="0"/>
              <a:t>3/10/2025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EDE1C-4C8F-4E17-9F9A-D3329EDA8FA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081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8B78D8-8E47-4A32-97D3-16230CDCBB6A}" type="datetimeFigureOut">
              <a:rPr lang="en-US" smtClean="0"/>
              <a:t>3/10/2025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6EDE1C-4C8F-4E17-9F9A-D3329EDA8FA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2457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5" Type="http://schemas.openxmlformats.org/officeDocument/2006/relationships/image" Target="../media/image2.png"/><Relationship Id="rId4" Type="http://schemas.openxmlformats.org/officeDocument/2006/relationships/hyperlink" Target="https://scikit-learn.org/stable/modules/generated/sklearn.tree.DecisionTreeClassifier.html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webgraphviz.com/" TargetMode="Externa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ebgraphviz.com/" TargetMode="Externa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D8296-9E69-4948-8334-5A477FBAAD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Evaluation of Models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370F13-21DE-410B-A4F5-3C9C007695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797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56"/>
    </mc:Choice>
    <mc:Fallback xmlns="">
      <p:transition spd="slow" advTm="595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4A267A-1D11-49F5-AFFA-E4890BE988BB}"/>
              </a:ext>
            </a:extLst>
          </p:cNvPr>
          <p:cNvSpPr txBox="1"/>
          <p:nvPr/>
        </p:nvSpPr>
        <p:spPr>
          <a:xfrm>
            <a:off x="363985" y="1043682"/>
            <a:ext cx="841603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If there are more than two possible predictors, </a:t>
            </a:r>
            <a:r>
              <a:rPr lang="en-US" sz="3000" dirty="0">
                <a:solidFill>
                  <a:srgbClr val="FF0000"/>
                </a:solidFill>
              </a:rPr>
              <a:t>many different decision trees</a:t>
            </a:r>
            <a:r>
              <a:rPr lang="en-US" sz="3000" dirty="0"/>
              <a:t> are possible for a given data set.  </a:t>
            </a:r>
            <a:br>
              <a:rPr lang="en-US" sz="3000" dirty="0"/>
            </a:br>
            <a:endParaRPr lang="en-US" sz="3000" dirty="0"/>
          </a:p>
          <a:p>
            <a:r>
              <a:rPr lang="en-US" sz="3000" dirty="0"/>
              <a:t>What makes one better than another?</a:t>
            </a:r>
          </a:p>
          <a:p>
            <a:pPr marL="257175" indent="-257175">
              <a:buAutoNum type="arabicPeriod"/>
            </a:pPr>
            <a:r>
              <a:rPr lang="en-US" sz="2700" dirty="0"/>
              <a:t>Choosing the right combination of features as predictors.</a:t>
            </a:r>
          </a:p>
          <a:p>
            <a:pPr marL="257175" indent="-257175">
              <a:buAutoNum type="arabicPeriod"/>
            </a:pPr>
            <a:r>
              <a:rPr lang="en-US" sz="2700" dirty="0"/>
              <a:t>Knowing when to stop splitting.</a:t>
            </a:r>
          </a:p>
          <a:p>
            <a:endParaRPr lang="en-US" sz="30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02417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0069"/>
    </mc:Choice>
    <mc:Fallback xmlns="">
      <p:transition spd="slow" advTm="9006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www.analyticsvidhya.com/wp-content/uploads/2016/02/tree-infographic.png">
            <a:extLst>
              <a:ext uri="{FF2B5EF4-FFF2-40B4-BE49-F238E27FC236}">
                <a16:creationId xmlns:a16="http://schemas.microsoft.com/office/drawing/2014/main" id="{3BB421DB-0640-440B-AF5B-B2BF94769D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509" y="182813"/>
            <a:ext cx="8386763" cy="3513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DB88033-94E1-448A-967E-EC9369B355E9}"/>
              </a:ext>
            </a:extLst>
          </p:cNvPr>
          <p:cNvSpPr/>
          <p:nvPr/>
        </p:nvSpPr>
        <p:spPr>
          <a:xfrm>
            <a:off x="2053780" y="3705747"/>
            <a:ext cx="8029853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/>
              <a:t>https://www.analyticsvidhya.com/wp-content/uploads/2016/02/tree-infographic.png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B83482-58FA-499C-B85B-111D1001634F}"/>
              </a:ext>
            </a:extLst>
          </p:cNvPr>
          <p:cNvSpPr/>
          <p:nvPr/>
        </p:nvSpPr>
        <p:spPr>
          <a:xfrm>
            <a:off x="583706" y="6017591"/>
            <a:ext cx="8560294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50" dirty="0">
                <a:hlinkClick r:id="rId4"/>
              </a:rPr>
              <a:t>https://scikit-learn.org/stable/modules/generated/sklearn.tree.DecisionTreeClassifier.html</a:t>
            </a:r>
            <a:endParaRPr lang="en-US" sz="135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AF5F36-4447-4FA2-A418-CFA98A668E51}"/>
              </a:ext>
            </a:extLst>
          </p:cNvPr>
          <p:cNvSpPr/>
          <p:nvPr/>
        </p:nvSpPr>
        <p:spPr>
          <a:xfrm>
            <a:off x="535565" y="4462784"/>
            <a:ext cx="8416663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350" dirty="0" err="1"/>
              <a:t>clf</a:t>
            </a:r>
            <a:r>
              <a:rPr lang="en-US" sz="1350" dirty="0"/>
              <a:t> = </a:t>
            </a:r>
            <a:r>
              <a:rPr lang="en-US" sz="1350" dirty="0" err="1"/>
              <a:t>DecisionTreeClassifier</a:t>
            </a:r>
            <a:r>
              <a:rPr lang="en-US" sz="1350" dirty="0"/>
              <a:t>(criterion = '</a:t>
            </a:r>
            <a:r>
              <a:rPr lang="en-US" sz="1350" dirty="0" err="1"/>
              <a:t>gini</a:t>
            </a:r>
            <a:r>
              <a:rPr lang="en-US" sz="1350" dirty="0"/>
              <a:t>’)   </a:t>
            </a:r>
            <a:r>
              <a:rPr lang="en-US" sz="1350" dirty="0">
                <a:solidFill>
                  <a:srgbClr val="FF0000"/>
                </a:solidFill>
              </a:rPr>
              <a:t>As seen in documentation, other parameters can be used to specify the </a:t>
            </a:r>
            <a:br>
              <a:rPr lang="en-US" sz="1350" dirty="0">
                <a:solidFill>
                  <a:srgbClr val="FF0000"/>
                </a:solidFill>
              </a:rPr>
            </a:br>
            <a:r>
              <a:rPr lang="en-US" sz="1350" dirty="0">
                <a:solidFill>
                  <a:srgbClr val="FF0000"/>
                </a:solidFill>
              </a:rPr>
              <a:t>                                                                                 stopping points.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55DF8A-647E-4D20-BA59-E27EA44CA1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3711" y="4980500"/>
            <a:ext cx="4514434" cy="82500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42158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0375"/>
    </mc:Choice>
    <mc:Fallback xmlns="">
      <p:transition spd="slow" advTm="25037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0C08C63-6DB4-4255-9687-CCF1446A43DC}"/>
              </a:ext>
            </a:extLst>
          </p:cNvPr>
          <p:cNvSpPr/>
          <p:nvPr/>
        </p:nvSpPr>
        <p:spPr>
          <a:xfrm>
            <a:off x="1688243" y="1746675"/>
            <a:ext cx="1087515" cy="184657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6C87F4-02C6-42C0-ADAA-3799EACD6E44}"/>
              </a:ext>
            </a:extLst>
          </p:cNvPr>
          <p:cNvSpPr/>
          <p:nvPr/>
        </p:nvSpPr>
        <p:spPr>
          <a:xfrm>
            <a:off x="1688243" y="3584351"/>
            <a:ext cx="1087515" cy="56965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5AB9BC-28D4-48AB-9371-52E4EDBAFE36}"/>
              </a:ext>
            </a:extLst>
          </p:cNvPr>
          <p:cNvSpPr txBox="1"/>
          <p:nvPr/>
        </p:nvSpPr>
        <p:spPr>
          <a:xfrm>
            <a:off x="10155" y="52291"/>
            <a:ext cx="893187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Once we have created a model, how can we evaluate it?</a:t>
            </a:r>
            <a:br>
              <a:rPr lang="en-US" sz="2800" dirty="0"/>
            </a:br>
            <a:r>
              <a:rPr lang="en-US" sz="1100" dirty="0"/>
              <a:t>  </a:t>
            </a:r>
          </a:p>
          <a:p>
            <a:r>
              <a:rPr lang="en-US" sz="2800" dirty="0"/>
              <a:t>Given the choice between two different models, how would we know which is best?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5716E9-984C-4DFC-942B-13689837B143}"/>
              </a:ext>
            </a:extLst>
          </p:cNvPr>
          <p:cNvSpPr/>
          <p:nvPr/>
        </p:nvSpPr>
        <p:spPr>
          <a:xfrm>
            <a:off x="1688243" y="1746674"/>
            <a:ext cx="1087515" cy="24073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9722EF-DD64-4FC2-8EAB-41E5283C59A3}"/>
              </a:ext>
            </a:extLst>
          </p:cNvPr>
          <p:cNvSpPr/>
          <p:nvPr/>
        </p:nvSpPr>
        <p:spPr>
          <a:xfrm>
            <a:off x="3404590" y="1652729"/>
            <a:ext cx="6467384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We can split (partition) our data into two </a:t>
            </a:r>
            <a:br>
              <a:rPr lang="en-US" sz="2400" dirty="0"/>
            </a:br>
            <a:r>
              <a:rPr lang="en-US" sz="2400" dirty="0"/>
              <a:t>different sets. </a:t>
            </a:r>
            <a:endParaRPr lang="en-US" sz="1600" dirty="0"/>
          </a:p>
          <a:p>
            <a:endParaRPr lang="en-US" sz="1600" dirty="0"/>
          </a:p>
          <a:p>
            <a:r>
              <a:rPr lang="en-US" sz="2400" dirty="0"/>
              <a:t>We will call one of the sets our </a:t>
            </a:r>
            <a:r>
              <a:rPr lang="en-US" sz="2400" b="1" dirty="0"/>
              <a:t>training</a:t>
            </a:r>
            <a:r>
              <a:rPr lang="en-US" sz="2400" dirty="0"/>
              <a:t> set.  </a:t>
            </a:r>
          </a:p>
          <a:p>
            <a:endParaRPr lang="en-US" sz="1600" dirty="0"/>
          </a:p>
          <a:p>
            <a:r>
              <a:rPr lang="en-US" sz="2400" dirty="0"/>
              <a:t>We will call the other one our </a:t>
            </a:r>
            <a:r>
              <a:rPr lang="en-US" sz="2400" b="1" dirty="0"/>
              <a:t>test</a:t>
            </a:r>
            <a:r>
              <a:rPr lang="en-US" sz="2400" dirty="0"/>
              <a:t> set.</a:t>
            </a:r>
          </a:p>
          <a:p>
            <a:endParaRPr lang="en-US" sz="1600" dirty="0"/>
          </a:p>
          <a:p>
            <a:r>
              <a:rPr lang="en-US" dirty="0"/>
              <a:t>We usually have around 80% of the data in our training set </a:t>
            </a:r>
            <a:br>
              <a:rPr lang="en-US" dirty="0"/>
            </a:br>
            <a:r>
              <a:rPr lang="en-US" dirty="0"/>
              <a:t>and the rest in the test set and we choose the sets at </a:t>
            </a:r>
            <a:br>
              <a:rPr lang="en-US" dirty="0"/>
            </a:br>
            <a:r>
              <a:rPr lang="en-US" dirty="0"/>
              <a:t>random.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2C5F5CB-AACC-4D59-8F0F-D520350FBBA9}"/>
              </a:ext>
            </a:extLst>
          </p:cNvPr>
          <p:cNvCxnSpPr>
            <a:cxnSpLocks/>
          </p:cNvCxnSpPr>
          <p:nvPr/>
        </p:nvCxnSpPr>
        <p:spPr>
          <a:xfrm flipH="1">
            <a:off x="2925197" y="2902992"/>
            <a:ext cx="479393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05974F9-6C73-43A0-8CE6-C26F2A8DB027}"/>
              </a:ext>
            </a:extLst>
          </p:cNvPr>
          <p:cNvCxnSpPr>
            <a:cxnSpLocks/>
          </p:cNvCxnSpPr>
          <p:nvPr/>
        </p:nvCxnSpPr>
        <p:spPr>
          <a:xfrm flipH="1">
            <a:off x="2855657" y="3584351"/>
            <a:ext cx="548933" cy="213434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43A75913-BE8A-4F74-80B4-D60BFABD85F0}"/>
              </a:ext>
            </a:extLst>
          </p:cNvPr>
          <p:cNvSpPr/>
          <p:nvPr/>
        </p:nvSpPr>
        <p:spPr>
          <a:xfrm>
            <a:off x="10155" y="2291231"/>
            <a:ext cx="16780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Training Set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C2417B-16C6-4A93-BF24-5A568377DF0E}"/>
              </a:ext>
            </a:extLst>
          </p:cNvPr>
          <p:cNvSpPr/>
          <p:nvPr/>
        </p:nvSpPr>
        <p:spPr>
          <a:xfrm>
            <a:off x="267777" y="3638343"/>
            <a:ext cx="116878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Test Set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4B004C-B648-4AFB-87EF-8779292AEB4E}"/>
              </a:ext>
            </a:extLst>
          </p:cNvPr>
          <p:cNvSpPr/>
          <p:nvPr/>
        </p:nvSpPr>
        <p:spPr>
          <a:xfrm>
            <a:off x="212125" y="4740039"/>
            <a:ext cx="893187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We </a:t>
            </a:r>
            <a:r>
              <a:rPr lang="en-US" sz="2400" b="1" dirty="0">
                <a:solidFill>
                  <a:srgbClr val="FF0000"/>
                </a:solidFill>
              </a:rPr>
              <a:t>build</a:t>
            </a:r>
            <a:r>
              <a:rPr lang="en-US" sz="2400" dirty="0"/>
              <a:t> our model using only the </a:t>
            </a:r>
            <a:r>
              <a:rPr lang="en-US" sz="2400" b="1" dirty="0">
                <a:solidFill>
                  <a:srgbClr val="FF0000"/>
                </a:solidFill>
              </a:rPr>
              <a:t>training set</a:t>
            </a:r>
            <a:r>
              <a:rPr lang="en-US" sz="2400" dirty="0"/>
              <a:t>.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Then we </a:t>
            </a:r>
            <a:r>
              <a:rPr lang="en-US" sz="2400" b="1" dirty="0">
                <a:solidFill>
                  <a:srgbClr val="7030A0"/>
                </a:solidFill>
              </a:rPr>
              <a:t>use</a:t>
            </a:r>
            <a:r>
              <a:rPr lang="en-US" sz="2400" dirty="0"/>
              <a:t> the model to make predictions for our </a:t>
            </a:r>
            <a:r>
              <a:rPr lang="en-US" sz="2400" b="1" dirty="0">
                <a:solidFill>
                  <a:srgbClr val="7030A0"/>
                </a:solidFill>
              </a:rPr>
              <a:t>test data</a:t>
            </a:r>
            <a:r>
              <a:rPr lang="en-US" sz="2400" dirty="0"/>
              <a:t>.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Since </a:t>
            </a:r>
            <a:r>
              <a:rPr lang="en-US" sz="2400" b="1" dirty="0">
                <a:solidFill>
                  <a:srgbClr val="FF0000"/>
                </a:solidFill>
              </a:rPr>
              <a:t>we already know the value of each feature in our test data </a:t>
            </a:r>
            <a:r>
              <a:rPr lang="en-US" sz="2400" dirty="0"/>
              <a:t>set, we compare our </a:t>
            </a:r>
            <a:r>
              <a:rPr lang="en-US" sz="2400" b="1" dirty="0"/>
              <a:t>predictions</a:t>
            </a:r>
            <a:r>
              <a:rPr lang="en-US" sz="2400" dirty="0"/>
              <a:t> to the </a:t>
            </a:r>
            <a:r>
              <a:rPr lang="en-US" sz="2400" b="1" dirty="0"/>
              <a:t>actual values </a:t>
            </a:r>
            <a:r>
              <a:rPr lang="en-US" sz="2400" dirty="0"/>
              <a:t>and </a:t>
            </a:r>
            <a:r>
              <a:rPr lang="en-US" sz="2400" b="1" dirty="0"/>
              <a:t>calculate the model’s accuracy</a:t>
            </a:r>
            <a:r>
              <a:rPr lang="en-US" sz="2400" dirty="0"/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7E8D9B3-A6EC-40FF-9A01-8DBA46F0F861}"/>
              </a:ext>
            </a:extLst>
          </p:cNvPr>
          <p:cNvSpPr txBox="1"/>
          <p:nvPr/>
        </p:nvSpPr>
        <p:spPr>
          <a:xfrm>
            <a:off x="1886555" y="2366768"/>
            <a:ext cx="8066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80%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640283C-8A08-46B3-9242-F3328AA6C60C}"/>
              </a:ext>
            </a:extLst>
          </p:cNvPr>
          <p:cNvSpPr txBox="1"/>
          <p:nvPr/>
        </p:nvSpPr>
        <p:spPr>
          <a:xfrm>
            <a:off x="1880228" y="3593246"/>
            <a:ext cx="8066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20%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1723" y="1434869"/>
            <a:ext cx="620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26334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8660"/>
    </mc:Choice>
    <mc:Fallback xmlns="">
      <p:transition spd="slow" advTm="17866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/>
      <p:bldP spid="12" grpId="0"/>
      <p:bldP spid="13" grpId="0"/>
      <p:bldP spid="14" grpId="0"/>
      <p:bldP spid="17" grpId="0"/>
      <p:bldP spid="18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FF8D8EE-2F20-4A51-8B4C-AB163BD661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642" y="3476086"/>
            <a:ext cx="6711518" cy="28993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A1CDAF6-77C8-4B41-B06A-AFB6C8272F16}"/>
              </a:ext>
            </a:extLst>
          </p:cNvPr>
          <p:cNvSpPr txBox="1"/>
          <p:nvPr/>
        </p:nvSpPr>
        <p:spPr>
          <a:xfrm>
            <a:off x="-16190" y="2465968"/>
            <a:ext cx="8806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did this model do?  Let’s </a:t>
            </a:r>
            <a:r>
              <a:rPr lang="en-US" b="1" dirty="0">
                <a:solidFill>
                  <a:srgbClr val="FF0000"/>
                </a:solidFill>
              </a:rPr>
              <a:t>count how many predictions were right </a:t>
            </a:r>
            <a:r>
              <a:rPr lang="en-US" dirty="0"/>
              <a:t>and divide by the </a:t>
            </a:r>
            <a:br>
              <a:rPr lang="en-US" dirty="0"/>
            </a:br>
            <a:r>
              <a:rPr lang="en-US" dirty="0"/>
              <a:t>total number of data points.   That will be our accuracy score.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5C8C8F-890E-45F4-817B-E1453B0DA237}"/>
              </a:ext>
            </a:extLst>
          </p:cNvPr>
          <p:cNvSpPr/>
          <p:nvPr/>
        </p:nvSpPr>
        <p:spPr>
          <a:xfrm>
            <a:off x="4159033" y="3193902"/>
            <a:ext cx="275812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Actual Species     Predicted Species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E30403-9E26-4DD9-8DA5-C5B86D4565C3}"/>
              </a:ext>
            </a:extLst>
          </p:cNvPr>
          <p:cNvSpPr/>
          <p:nvPr/>
        </p:nvSpPr>
        <p:spPr>
          <a:xfrm>
            <a:off x="70910" y="3112299"/>
            <a:ext cx="14786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Our Test Data</a:t>
            </a:r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72F6058-A24F-4B8E-83CC-DEEBEED89689}"/>
              </a:ext>
            </a:extLst>
          </p:cNvPr>
          <p:cNvSpPr/>
          <p:nvPr/>
        </p:nvSpPr>
        <p:spPr>
          <a:xfrm>
            <a:off x="4289370" y="5059796"/>
            <a:ext cx="1845577" cy="27520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37B6362-C47E-474E-A577-A3455F63E82B}"/>
              </a:ext>
            </a:extLst>
          </p:cNvPr>
          <p:cNvSpPr/>
          <p:nvPr/>
        </p:nvSpPr>
        <p:spPr>
          <a:xfrm>
            <a:off x="4289370" y="5887377"/>
            <a:ext cx="1845577" cy="27520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B7050C-DB4F-488B-B88F-FCDC12AF44E8}"/>
              </a:ext>
            </a:extLst>
          </p:cNvPr>
          <p:cNvSpPr/>
          <p:nvPr/>
        </p:nvSpPr>
        <p:spPr>
          <a:xfrm>
            <a:off x="6584247" y="4166646"/>
            <a:ext cx="256564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Wrong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DA54D16-0517-47B2-81D9-2EA30D7FD9E2}"/>
              </a:ext>
            </a:extLst>
          </p:cNvPr>
          <p:cNvCxnSpPr>
            <a:cxnSpLocks/>
          </p:cNvCxnSpPr>
          <p:nvPr/>
        </p:nvCxnSpPr>
        <p:spPr>
          <a:xfrm flipH="1">
            <a:off x="6255776" y="4621068"/>
            <a:ext cx="572608" cy="62463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87F81B7-4DB7-4556-BCCF-6F75346358A9}"/>
              </a:ext>
            </a:extLst>
          </p:cNvPr>
          <p:cNvCxnSpPr>
            <a:cxnSpLocks/>
          </p:cNvCxnSpPr>
          <p:nvPr/>
        </p:nvCxnSpPr>
        <p:spPr>
          <a:xfrm flipH="1">
            <a:off x="6143348" y="4621068"/>
            <a:ext cx="685036" cy="124707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109E03E-8925-4CF9-A2E3-12085668BA75}"/>
              </a:ext>
            </a:extLst>
          </p:cNvPr>
          <p:cNvSpPr txBox="1"/>
          <p:nvPr/>
        </p:nvSpPr>
        <p:spPr>
          <a:xfrm>
            <a:off x="6688850" y="4763227"/>
            <a:ext cx="268935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With this particular partition, our model </a:t>
            </a:r>
            <a:br>
              <a:rPr lang="en-US" dirty="0"/>
            </a:br>
            <a:r>
              <a:rPr lang="en-US" dirty="0"/>
              <a:t>made 28 correct predictions out of 30.  </a:t>
            </a:r>
          </a:p>
          <a:p>
            <a:endParaRPr lang="en-US" dirty="0"/>
          </a:p>
          <a:p>
            <a:r>
              <a:rPr lang="en-US" b="1" dirty="0"/>
              <a:t>Accuracy:  28/30 </a:t>
            </a:r>
            <a:r>
              <a:rPr lang="en-US" b="1"/>
              <a:t>= 0.933</a:t>
            </a:r>
            <a:br>
              <a:rPr lang="en-US" b="1"/>
            </a:br>
            <a:r>
              <a:rPr lang="en-US" b="1"/>
              <a:t>                               = 93.3%</a:t>
            </a:r>
            <a:endParaRPr lang="en-US" b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CEB8CB3-7A8B-A0E7-8AB0-6506F47DAB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809" y="-572921"/>
            <a:ext cx="7486650" cy="27622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39141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6590"/>
    </mc:Choice>
    <mc:Fallback xmlns="">
      <p:transition spd="slow" advTm="22659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 animBg="1"/>
      <p:bldP spid="8" grpId="0" animBg="1"/>
      <p:bldP spid="10" grpId="0"/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758327-2608-4BF5-8329-71D740320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463" y="198553"/>
            <a:ext cx="3722812" cy="138086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DF627C9-6CDB-4DE5-B03A-2A07FBD5D6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8674" y="629507"/>
            <a:ext cx="5153025" cy="7715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D62A1D3-A9E6-4D87-84A0-86A666A78F04}"/>
              </a:ext>
            </a:extLst>
          </p:cNvPr>
          <p:cNvSpPr txBox="1"/>
          <p:nvPr/>
        </p:nvSpPr>
        <p:spPr>
          <a:xfrm>
            <a:off x="255463" y="2081393"/>
            <a:ext cx="76259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We can use KNIME to create </a:t>
            </a:r>
            <a:r>
              <a:rPr lang="en-US" sz="2800" dirty="0" err="1"/>
              <a:t>WorkFlows</a:t>
            </a:r>
            <a:r>
              <a:rPr lang="en-US" sz="2800" dirty="0"/>
              <a:t> like this: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B53687-F7B0-83D0-2F5D-3C7C6563DF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711" y="2604613"/>
            <a:ext cx="7486650" cy="276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286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1505"/>
    </mc:Choice>
    <mc:Fallback xmlns="">
      <p:transition spd="slow" advTm="91505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B74E6AB-1038-1CEB-C6BF-CE6971F0FA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721" y="144644"/>
            <a:ext cx="6979764" cy="451784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CE19176-A336-4E1E-8044-6CD490891683}"/>
              </a:ext>
            </a:extLst>
          </p:cNvPr>
          <p:cNvSpPr/>
          <p:nvPr/>
        </p:nvSpPr>
        <p:spPr>
          <a:xfrm>
            <a:off x="2798511" y="704178"/>
            <a:ext cx="411888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https://www.knime.com/downloads</a:t>
            </a:r>
          </a:p>
        </p:txBody>
      </p:sp>
      <p:sp>
        <p:nvSpPr>
          <p:cNvPr id="7" name="Oval 6"/>
          <p:cNvSpPr/>
          <p:nvPr/>
        </p:nvSpPr>
        <p:spPr>
          <a:xfrm>
            <a:off x="760705" y="1394809"/>
            <a:ext cx="2037806" cy="67926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78CDDDE-93EE-D125-F660-F080C225C8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390" y="4662486"/>
            <a:ext cx="6800426" cy="2618850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0C547662-9C43-CB0F-DA41-D99D41F3AF20}"/>
              </a:ext>
            </a:extLst>
          </p:cNvPr>
          <p:cNvSpPr/>
          <p:nvPr/>
        </p:nvSpPr>
        <p:spPr>
          <a:xfrm>
            <a:off x="594449" y="5800556"/>
            <a:ext cx="5376859" cy="4617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9B26275-3295-217F-9049-1BC0D1B3E4F6}"/>
              </a:ext>
            </a:extLst>
          </p:cNvPr>
          <p:cNvSpPr/>
          <p:nvPr/>
        </p:nvSpPr>
        <p:spPr>
          <a:xfrm>
            <a:off x="6329798" y="6396300"/>
            <a:ext cx="1175193" cy="4617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182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174"/>
    </mc:Choice>
    <mc:Fallback xmlns="">
      <p:transition spd="slow" advTm="13174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CC6E7CF9-F1F9-4DA9-DBB7-C1E5704408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357" y="340590"/>
            <a:ext cx="7822405" cy="288612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A58DC15-53C1-45B8-B132-1E3E5911A757}"/>
              </a:ext>
            </a:extLst>
          </p:cNvPr>
          <p:cNvSpPr txBox="1"/>
          <p:nvPr/>
        </p:nvSpPr>
        <p:spPr>
          <a:xfrm>
            <a:off x="164237" y="31723"/>
            <a:ext cx="88155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Let’s use KNIME to read in the Iris dataset, create a decision tree model, and evaluate the accuracy of the model.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989244-44E9-403F-B699-06CABEF880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0209" y="4367098"/>
            <a:ext cx="3743325" cy="94297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2CE38E0-E0D7-46B6-97C9-600B7DF61F11}"/>
              </a:ext>
            </a:extLst>
          </p:cNvPr>
          <p:cNvSpPr/>
          <p:nvPr/>
        </p:nvSpPr>
        <p:spPr>
          <a:xfrm>
            <a:off x="481282" y="4690263"/>
            <a:ext cx="7938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Actual</a:t>
            </a: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9003B0-88E0-49FA-9C99-89BAEED2CAE6}"/>
              </a:ext>
            </a:extLst>
          </p:cNvPr>
          <p:cNvSpPr/>
          <p:nvPr/>
        </p:nvSpPr>
        <p:spPr>
          <a:xfrm>
            <a:off x="2886684" y="4083730"/>
            <a:ext cx="10945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Predicted</a:t>
            </a:r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52FDA5-F3BA-495C-AABD-C79F93BB3E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666476"/>
            <a:ext cx="9144000" cy="88238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75D55E6-6EC5-4B57-A68D-00B70E80C370}"/>
              </a:ext>
            </a:extLst>
          </p:cNvPr>
          <p:cNvSpPr/>
          <p:nvPr/>
        </p:nvSpPr>
        <p:spPr>
          <a:xfrm>
            <a:off x="0" y="5297144"/>
            <a:ext cx="19920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0070C0"/>
                </a:solidFill>
              </a:rPr>
              <a:t>Accuracy Statistics</a:t>
            </a:r>
            <a:endParaRPr lang="en-US">
              <a:solidFill>
                <a:srgbClr val="0070C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A1451-2D32-4F6F-8C13-A1E6F592CC89}"/>
              </a:ext>
            </a:extLst>
          </p:cNvPr>
          <p:cNvSpPr/>
          <p:nvPr/>
        </p:nvSpPr>
        <p:spPr>
          <a:xfrm>
            <a:off x="0" y="4015421"/>
            <a:ext cx="18340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0070C0"/>
                </a:solidFill>
              </a:rPr>
              <a:t>Confusion Matrix</a:t>
            </a:r>
            <a:endParaRPr lang="en-US">
              <a:solidFill>
                <a:srgbClr val="0070C0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D780AAF-A630-426A-820A-6B3E9537FA5A}"/>
              </a:ext>
            </a:extLst>
          </p:cNvPr>
          <p:cNvSpPr/>
          <p:nvPr/>
        </p:nvSpPr>
        <p:spPr>
          <a:xfrm>
            <a:off x="7492753" y="6320901"/>
            <a:ext cx="479395" cy="227959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EAE1AC-8B00-4F35-96D1-EEE182B376A8}"/>
              </a:ext>
            </a:extLst>
          </p:cNvPr>
          <p:cNvSpPr txBox="1"/>
          <p:nvPr/>
        </p:nvSpPr>
        <p:spPr>
          <a:xfrm>
            <a:off x="5220975" y="3862092"/>
            <a:ext cx="355936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With this particular partition, our model made 28 correct predictions out of 30.  </a:t>
            </a:r>
          </a:p>
          <a:p>
            <a:endParaRPr lang="en-US" dirty="0"/>
          </a:p>
          <a:p>
            <a:r>
              <a:rPr lang="en-US" b="1" dirty="0"/>
              <a:t>Accuracy:  28/30 = 0.933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79032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2540"/>
    </mc:Choice>
    <mc:Fallback xmlns="">
      <p:transition spd="slow" advTm="21254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0" grpId="0" animBg="1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4CFB8A1-2608-4652-A088-C1B7006ECFDA}"/>
              </a:ext>
            </a:extLst>
          </p:cNvPr>
          <p:cNvSpPr txBox="1"/>
          <p:nvPr/>
        </p:nvSpPr>
        <p:spPr>
          <a:xfrm>
            <a:off x="164237" y="93175"/>
            <a:ext cx="88155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If we are satisfied with our model, we can add an extra predictor node and send in some new data.  Then right-click on the node and look at the Classified Data.  You will find predictions there.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4F9625-A45D-442F-AAA7-078EF7C19120}"/>
              </a:ext>
            </a:extLst>
          </p:cNvPr>
          <p:cNvSpPr txBox="1"/>
          <p:nvPr/>
        </p:nvSpPr>
        <p:spPr>
          <a:xfrm>
            <a:off x="1279001" y="1530003"/>
            <a:ext cx="74367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Predict the species of an iris that has the following measures: </a:t>
            </a:r>
            <a:br>
              <a:rPr lang="en-US" sz="1600" b="0" i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</a:br>
            <a:r>
              <a:rPr lang="en-US" sz="1600">
                <a:solidFill>
                  <a:srgbClr val="FF0000"/>
                </a:solidFill>
                <a:latin typeface="Arial" panose="020B0604020202020204" pitchFamily="34" charset="0"/>
              </a:rPr>
              <a:t>s</a:t>
            </a:r>
            <a:r>
              <a:rPr lang="en-US" sz="1600" b="0" i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epal_length is 0.7, sepal_width is 3.1, petal_length is 4.5, petal_width is 1.4</a:t>
            </a:r>
            <a:endParaRPr lang="en-US" sz="1600">
              <a:solidFill>
                <a:srgbClr val="FF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4CB36B-8255-45A9-8FCC-C95157F993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470" y="2351278"/>
            <a:ext cx="9144000" cy="4099992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5F1CD330-E870-451D-B68B-0A39778B6855}"/>
              </a:ext>
            </a:extLst>
          </p:cNvPr>
          <p:cNvSpPr/>
          <p:nvPr/>
        </p:nvSpPr>
        <p:spPr>
          <a:xfrm>
            <a:off x="5208609" y="2257063"/>
            <a:ext cx="3252486" cy="2314937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329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1874"/>
    </mc:Choice>
    <mc:Fallback xmlns="">
      <p:transition spd="slow" advTm="121874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4C7E24-5493-4CCC-B33F-7E435CF52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741" y="679915"/>
            <a:ext cx="8256233" cy="461935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88FA2A8-DE8D-DD80-2FBE-E2E2F16EDD57}"/>
              </a:ext>
            </a:extLst>
          </p:cNvPr>
          <p:cNvSpPr/>
          <p:nvPr/>
        </p:nvSpPr>
        <p:spPr>
          <a:xfrm>
            <a:off x="734291" y="4350327"/>
            <a:ext cx="5292436" cy="6373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271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034"/>
    </mc:Choice>
    <mc:Fallback xmlns="">
      <p:transition spd="slow" advTm="62034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58DC15-53C1-45B8-B132-1E3E5911A757}"/>
              </a:ext>
            </a:extLst>
          </p:cNvPr>
          <p:cNvSpPr txBox="1"/>
          <p:nvPr/>
        </p:nvSpPr>
        <p:spPr>
          <a:xfrm>
            <a:off x="0" y="-54854"/>
            <a:ext cx="88155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Now that you see how this is done, let’s do the same thing again but with Python. </a:t>
            </a:r>
          </a:p>
          <a:p>
            <a:endParaRPr lang="en-US" sz="2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077D13-11AB-4995-9B46-F913E41F7F27}"/>
              </a:ext>
            </a:extLst>
          </p:cNvPr>
          <p:cNvSpPr/>
          <p:nvPr/>
        </p:nvSpPr>
        <p:spPr>
          <a:xfrm>
            <a:off x="178500" y="546191"/>
            <a:ext cx="8176334" cy="65941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050" dirty="0"/>
          </a:p>
          <a:p>
            <a:r>
              <a:rPr lang="en-US" sz="1050" dirty="0"/>
              <a:t>import pandas as pd</a:t>
            </a:r>
          </a:p>
          <a:p>
            <a:r>
              <a:rPr lang="en-US" sz="1050" dirty="0"/>
              <a:t>from sklearn.tree import DecisionTreeClassifier</a:t>
            </a:r>
          </a:p>
          <a:p>
            <a:r>
              <a:rPr lang="en-US" sz="1050" dirty="0"/>
              <a:t>from sklearn import tree</a:t>
            </a:r>
          </a:p>
          <a:p>
            <a:endParaRPr lang="en-US" sz="1050" dirty="0"/>
          </a:p>
          <a:p>
            <a:r>
              <a:rPr lang="en-US" sz="1050" dirty="0"/>
              <a:t>df = pd.read_csv('titanicsimplified.csv')</a:t>
            </a:r>
          </a:p>
          <a:p>
            <a:endParaRPr lang="en-US" sz="1050" dirty="0"/>
          </a:p>
          <a:p>
            <a:r>
              <a:rPr lang="en-US" sz="1050" dirty="0"/>
              <a:t>df['Sex'] = df['Sex'].map( {'female': 0, 'male': 1} ).astype(int)</a:t>
            </a:r>
          </a:p>
          <a:p>
            <a:r>
              <a:rPr lang="en-US" sz="1050" dirty="0"/>
              <a:t>#replace null ages with mean</a:t>
            </a:r>
          </a:p>
          <a:p>
            <a:r>
              <a:rPr lang="en-US" sz="1050" dirty="0"/>
              <a:t>df.Age = df.Age.fillna(df.Age.mean()) </a:t>
            </a:r>
          </a:p>
          <a:p>
            <a:endParaRPr lang="en-US" sz="1050" dirty="0"/>
          </a:p>
          <a:p>
            <a:r>
              <a:rPr lang="en-US" sz="1050" dirty="0"/>
              <a:t>    # Mapping Age</a:t>
            </a:r>
          </a:p>
          <a:p>
            <a:r>
              <a:rPr lang="en-US" sz="1050" dirty="0"/>
              <a:t>df.loc[ df['Age'] &lt;= 16, 'Age'] = 0</a:t>
            </a:r>
          </a:p>
          <a:p>
            <a:r>
              <a:rPr lang="en-US" sz="1050" dirty="0"/>
              <a:t>df.loc[(df['Age'] &gt; 16) &amp; (df['Age'] &lt;= 32), 'Age'] = 1</a:t>
            </a:r>
          </a:p>
          <a:p>
            <a:r>
              <a:rPr lang="en-US" sz="1050" dirty="0"/>
              <a:t>df.loc[(df['Age'] &gt; 32) &amp; (df['Age'] &lt;= 48), 'Age'] = 2</a:t>
            </a:r>
          </a:p>
          <a:p>
            <a:r>
              <a:rPr lang="en-US" sz="1050" dirty="0"/>
              <a:t>df.loc[(df['Age'] &gt; 48) &amp; (df['Age'] &lt;= 64), 'Age'] = 3</a:t>
            </a:r>
          </a:p>
          <a:p>
            <a:r>
              <a:rPr lang="en-US" sz="1050" dirty="0"/>
              <a:t>df.loc[ df['Age'] &gt; 64, 'Age'] </a:t>
            </a:r>
            <a:r>
              <a:rPr lang="en-US" sz="1050"/>
              <a:t>= 4</a:t>
            </a:r>
            <a:endParaRPr lang="en-US" sz="1050" dirty="0"/>
          </a:p>
          <a:p>
            <a:endParaRPr lang="en-US" sz="1050" dirty="0"/>
          </a:p>
          <a:p>
            <a:r>
              <a:rPr lang="en-US" sz="1050" dirty="0"/>
              <a:t>X = df.values[:, 2:4]</a:t>
            </a:r>
          </a:p>
          <a:p>
            <a:r>
              <a:rPr lang="en-US" sz="1050" dirty="0"/>
              <a:t>Y = df.values[:, 6]</a:t>
            </a:r>
          </a:p>
          <a:p>
            <a:r>
              <a:rPr lang="en-US" sz="1050" dirty="0"/>
              <a:t>Y=Y.astype('int’)</a:t>
            </a:r>
          </a:p>
          <a:p>
            <a:endParaRPr lang="en-US" sz="1100" b="1"/>
          </a:p>
          <a:p>
            <a:endParaRPr lang="en-US" sz="1100" b="1" dirty="0"/>
          </a:p>
          <a:p>
            <a:r>
              <a:rPr lang="en-US" sz="1050" dirty="0"/>
              <a:t>clf = DecisionTreeClassifier(criterion = 'gini’)</a:t>
            </a:r>
          </a:p>
          <a:p>
            <a:br>
              <a:rPr lang="en-US" sz="1050" dirty="0"/>
            </a:br>
            <a:r>
              <a:rPr lang="en-US" sz="1600" dirty="0"/>
              <a:t>clf.fit(X,Y)</a:t>
            </a:r>
            <a:br>
              <a:rPr lang="en-US" sz="1600"/>
            </a:br>
            <a:endParaRPr lang="en-US" sz="1600"/>
          </a:p>
          <a:p>
            <a:endParaRPr lang="en-US" sz="1600" b="1"/>
          </a:p>
          <a:p>
            <a:endParaRPr lang="en-US" sz="1600" b="1"/>
          </a:p>
          <a:p>
            <a:endParaRPr lang="en-US" sz="1050" b="1" dirty="0"/>
          </a:p>
          <a:p>
            <a:r>
              <a:rPr lang="en-US" sz="1050" dirty="0"/>
              <a:t>dot_data = tree.export_graphviz(clf,  out_file='TitanicDT.dot’,  max_depth = 3,  feature_names = ['Sex', 'Age’],    class_names = ['Died', 'Survived'],</a:t>
            </a:r>
          </a:p>
          <a:p>
            <a:r>
              <a:rPr lang="en-US" sz="1050" dirty="0"/>
              <a:t>                              rounded = True, filled= True )</a:t>
            </a:r>
          </a:p>
          <a:p>
            <a:r>
              <a:rPr lang="en-US" sz="1050" dirty="0"/>
              <a:t>#use </a:t>
            </a:r>
            <a:r>
              <a:rPr lang="en-US" sz="1050" dirty="0">
                <a:hlinkClick r:id="rId2"/>
              </a:rPr>
              <a:t>http://www.webgraphviz.com/</a:t>
            </a:r>
            <a:r>
              <a:rPr lang="en-US" sz="1050" dirty="0"/>
              <a:t>  Open TitanicDT.dot in Notepad, copy and paste in window on website.</a:t>
            </a:r>
            <a:br>
              <a:rPr lang="en-US" sz="1050" dirty="0"/>
            </a:br>
            <a:endParaRPr lang="en-US" sz="1050" dirty="0"/>
          </a:p>
          <a:p>
            <a:r>
              <a:rPr lang="en-US" sz="1050" dirty="0"/>
              <a:t>#Make Prediction </a:t>
            </a:r>
            <a:br>
              <a:rPr lang="en-US" sz="1050" dirty="0"/>
            </a:br>
            <a:r>
              <a:rPr lang="en-US" sz="1050" dirty="0"/>
              <a:t>clf.predict([[1,4]])</a:t>
            </a:r>
          </a:p>
          <a:p>
            <a:r>
              <a:rPr lang="en-US" sz="1050" dirty="0"/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2E2BFD-6B26-4DE0-8B88-6A48B4C49B05}"/>
              </a:ext>
            </a:extLst>
          </p:cNvPr>
          <p:cNvSpPr/>
          <p:nvPr/>
        </p:nvSpPr>
        <p:spPr>
          <a:xfrm>
            <a:off x="3747323" y="787751"/>
            <a:ext cx="5396677" cy="17324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Earlier, we wrote some code that would create a decision tree to predict survival.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b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24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C65E87-E80F-4747-8DEE-5C61E947647F}"/>
              </a:ext>
            </a:extLst>
          </p:cNvPr>
          <p:cNvSpPr txBox="1"/>
          <p:nvPr/>
        </p:nvSpPr>
        <p:spPr>
          <a:xfrm>
            <a:off x="3730748" y="2133969"/>
            <a:ext cx="508477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will add some lines to split up the data into a training set and a test set and then to eventually determine the accuracy of the model. </a:t>
            </a:r>
            <a:endParaRPr lang="en-US" sz="24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73E915-999B-4453-A564-B1612DBAB943}"/>
              </a:ext>
            </a:extLst>
          </p:cNvPr>
          <p:cNvSpPr txBox="1"/>
          <p:nvPr/>
        </p:nvSpPr>
        <p:spPr>
          <a:xfrm>
            <a:off x="3730748" y="3907293"/>
            <a:ext cx="50847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Here is what we had before …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958034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4267"/>
    </mc:Choice>
    <mc:Fallback xmlns="">
      <p:transition spd="slow" advTm="134267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58DC15-53C1-45B8-B132-1E3E5911A757}"/>
              </a:ext>
            </a:extLst>
          </p:cNvPr>
          <p:cNvSpPr txBox="1"/>
          <p:nvPr/>
        </p:nvSpPr>
        <p:spPr>
          <a:xfrm>
            <a:off x="0" y="-54854"/>
            <a:ext cx="88155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Now that you see how this is done, let’s do the same thing again but with Python. </a:t>
            </a:r>
          </a:p>
          <a:p>
            <a:endParaRPr lang="en-US" sz="2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077D13-11AB-4995-9B46-F913E41F7F27}"/>
              </a:ext>
            </a:extLst>
          </p:cNvPr>
          <p:cNvSpPr/>
          <p:nvPr/>
        </p:nvSpPr>
        <p:spPr>
          <a:xfrm>
            <a:off x="178500" y="546191"/>
            <a:ext cx="8176334" cy="6501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050" dirty="0"/>
          </a:p>
          <a:p>
            <a:r>
              <a:rPr lang="en-US" sz="1050" dirty="0"/>
              <a:t>import pandas as pd</a:t>
            </a:r>
          </a:p>
          <a:p>
            <a:r>
              <a:rPr lang="en-US" sz="1050" dirty="0"/>
              <a:t>from sklearn.tree import DecisionTreeClassifier</a:t>
            </a:r>
          </a:p>
          <a:p>
            <a:r>
              <a:rPr lang="en-US" sz="1050" dirty="0"/>
              <a:t>from sklearn import tree</a:t>
            </a:r>
          </a:p>
          <a:p>
            <a:endParaRPr lang="en-US" sz="1050" dirty="0"/>
          </a:p>
          <a:p>
            <a:r>
              <a:rPr lang="en-US" sz="1050" dirty="0"/>
              <a:t>df = pd.read_csv('titanicsimplified.csv')</a:t>
            </a:r>
          </a:p>
          <a:p>
            <a:endParaRPr lang="en-US" sz="1050" dirty="0"/>
          </a:p>
          <a:p>
            <a:r>
              <a:rPr lang="en-US" sz="1050" dirty="0"/>
              <a:t>df['Sex'] = df['Sex'].map( {'female': 0, 'male': 1} ).astype(int)</a:t>
            </a:r>
          </a:p>
          <a:p>
            <a:r>
              <a:rPr lang="en-US" sz="1050" dirty="0"/>
              <a:t>#replace null ages with mean</a:t>
            </a:r>
          </a:p>
          <a:p>
            <a:r>
              <a:rPr lang="en-US" sz="1050" dirty="0"/>
              <a:t>df.Age = df.Age.fillna(df.Age.mean()) </a:t>
            </a:r>
          </a:p>
          <a:p>
            <a:endParaRPr lang="en-US" sz="1050" dirty="0"/>
          </a:p>
          <a:p>
            <a:r>
              <a:rPr lang="en-US" sz="1050" dirty="0"/>
              <a:t>    # Mapping Age</a:t>
            </a:r>
          </a:p>
          <a:p>
            <a:r>
              <a:rPr lang="en-US" sz="1050" dirty="0"/>
              <a:t>df.loc[ df['Age'] &lt;= 16, 'Age'] = 0</a:t>
            </a:r>
          </a:p>
          <a:p>
            <a:r>
              <a:rPr lang="en-US" sz="1050" dirty="0"/>
              <a:t>df.loc[(df['Age'] &gt; 16) &amp; (df['Age'] &lt;= 32), 'Age'] = 1</a:t>
            </a:r>
          </a:p>
          <a:p>
            <a:r>
              <a:rPr lang="en-US" sz="1050" dirty="0"/>
              <a:t>df.loc[(df['Age'] &gt; 32) &amp; (df['Age'] &lt;= 48), 'Age'] = 2</a:t>
            </a:r>
          </a:p>
          <a:p>
            <a:r>
              <a:rPr lang="en-US" sz="1050" dirty="0"/>
              <a:t>df.loc[(df['Age'] &gt; 48) &amp; (df['Age'] &lt;= 64), 'Age'] = 3</a:t>
            </a:r>
          </a:p>
          <a:p>
            <a:r>
              <a:rPr lang="en-US" sz="1050" dirty="0"/>
              <a:t>df.loc[ df['Age'] &gt; 64, 'Age'] = 4</a:t>
            </a:r>
          </a:p>
          <a:p>
            <a:endParaRPr lang="en-US" sz="1050" dirty="0"/>
          </a:p>
          <a:p>
            <a:r>
              <a:rPr lang="en-US" sz="1050" dirty="0"/>
              <a:t>X = df.values[:, 2:4]</a:t>
            </a:r>
          </a:p>
          <a:p>
            <a:r>
              <a:rPr lang="en-US" sz="1050" dirty="0"/>
              <a:t>Y = df.values[:, 6]</a:t>
            </a:r>
          </a:p>
          <a:p>
            <a:r>
              <a:rPr lang="en-US" sz="1050" dirty="0"/>
              <a:t>Y=Y.astype('int’)</a:t>
            </a:r>
          </a:p>
          <a:p>
            <a:r>
              <a:rPr lang="en-US" sz="1600" b="1" dirty="0">
                <a:solidFill>
                  <a:schemeClr val="accent1"/>
                </a:solidFill>
              </a:rPr>
              <a:t>X_train, X_test, Y_train, Y_test = train_test_split(X, Y, test_size=0.20, random_state=100)</a:t>
            </a:r>
          </a:p>
          <a:p>
            <a:endParaRPr lang="en-US" sz="1100" b="1" dirty="0"/>
          </a:p>
          <a:p>
            <a:r>
              <a:rPr lang="en-US" sz="1050" dirty="0"/>
              <a:t>clf = DecisionTreeClassifier(criterion = 'gini’)</a:t>
            </a:r>
          </a:p>
          <a:p>
            <a:br>
              <a:rPr lang="en-US" sz="1050" dirty="0"/>
            </a:br>
            <a:r>
              <a:rPr lang="en-US" sz="1600" strike="sngStrike" dirty="0">
                <a:solidFill>
                  <a:srgbClr val="FF0000"/>
                </a:solidFill>
              </a:rPr>
              <a:t>clf.fit(X,Y)</a:t>
            </a:r>
            <a:br>
              <a:rPr lang="en-US" sz="1600" dirty="0"/>
            </a:br>
            <a:r>
              <a:rPr lang="en-US" sz="1600" b="1" dirty="0">
                <a:solidFill>
                  <a:srgbClr val="0070C0"/>
                </a:solidFill>
              </a:rPr>
              <a:t>clf.fit(X_train,Y_train)</a:t>
            </a:r>
          </a:p>
          <a:p>
            <a:r>
              <a:rPr lang="en-US" sz="1600" b="1" dirty="0">
                <a:solidFill>
                  <a:srgbClr val="0070C0"/>
                </a:solidFill>
              </a:rPr>
              <a:t>result = clf.score(X_test, Y_test)</a:t>
            </a:r>
          </a:p>
          <a:p>
            <a:r>
              <a:rPr lang="en-US" sz="1600" b="1" dirty="0">
                <a:solidFill>
                  <a:srgbClr val="0070C0"/>
                </a:solidFill>
              </a:rPr>
              <a:t>result</a:t>
            </a:r>
          </a:p>
          <a:p>
            <a:endParaRPr lang="en-US" sz="1050" b="1" dirty="0"/>
          </a:p>
          <a:p>
            <a:r>
              <a:rPr lang="en-US" sz="1050" dirty="0"/>
              <a:t>dot_data = tree.export_graphviz(clf,  out_file='TitanicDT.dot’,  max_depth = 3,  feature_names = ['Sex', 'Age’],    class_names = ['Died', 'Survived'],</a:t>
            </a:r>
          </a:p>
          <a:p>
            <a:r>
              <a:rPr lang="en-US" sz="1050" dirty="0"/>
              <a:t>                              rounded = True, filled= True )</a:t>
            </a:r>
          </a:p>
          <a:p>
            <a:r>
              <a:rPr lang="en-US" sz="1050" dirty="0"/>
              <a:t>#use </a:t>
            </a:r>
            <a:r>
              <a:rPr lang="en-US" sz="1050" dirty="0">
                <a:hlinkClick r:id="rId3"/>
              </a:rPr>
              <a:t>http://www.webgraphviz.com/</a:t>
            </a:r>
            <a:r>
              <a:rPr lang="en-US" sz="1050" dirty="0"/>
              <a:t>  Open TitanicDT.dot in Notepad, copy and paste in window on website.</a:t>
            </a:r>
            <a:br>
              <a:rPr lang="en-US" sz="1050" dirty="0"/>
            </a:br>
            <a:endParaRPr lang="en-US" sz="1050" dirty="0"/>
          </a:p>
          <a:p>
            <a:r>
              <a:rPr lang="en-US" sz="1050" dirty="0"/>
              <a:t>#Make Prediction </a:t>
            </a:r>
            <a:br>
              <a:rPr lang="en-US" sz="1050" dirty="0"/>
            </a:br>
            <a:r>
              <a:rPr lang="en-US" sz="1050" dirty="0"/>
              <a:t>clf.predict([[1,4]])</a:t>
            </a:r>
          </a:p>
          <a:p>
            <a:r>
              <a:rPr lang="en-US" sz="1050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C65E87-E80F-4747-8DEE-5C61E947647F}"/>
              </a:ext>
            </a:extLst>
          </p:cNvPr>
          <p:cNvSpPr txBox="1"/>
          <p:nvPr/>
        </p:nvSpPr>
        <p:spPr>
          <a:xfrm>
            <a:off x="3932397" y="2598003"/>
            <a:ext cx="400783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need to add a line to create the train and test sets</a:t>
            </a:r>
            <a:endParaRPr lang="en-US" sz="2400">
              <a:solidFill>
                <a:srgbClr val="FF0000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C35DAB3-182C-4AE5-A991-6E30514E5666}"/>
              </a:ext>
            </a:extLst>
          </p:cNvPr>
          <p:cNvCxnSpPr>
            <a:cxnSpLocks/>
          </p:cNvCxnSpPr>
          <p:nvPr/>
        </p:nvCxnSpPr>
        <p:spPr>
          <a:xfrm flipH="1">
            <a:off x="4109014" y="3429000"/>
            <a:ext cx="157653" cy="460094"/>
          </a:xfrm>
          <a:prstGeom prst="straightConnector1">
            <a:avLst/>
          </a:prstGeom>
          <a:ln w="571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8B38595-E54E-4A61-89B1-D12AFD1C51A8}"/>
              </a:ext>
            </a:extLst>
          </p:cNvPr>
          <p:cNvSpPr txBox="1"/>
          <p:nvPr/>
        </p:nvSpPr>
        <p:spPr>
          <a:xfrm>
            <a:off x="4187839" y="4259997"/>
            <a:ext cx="487513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alter the “fit” statement to send in X_train and Y_train.</a:t>
            </a:r>
            <a:endParaRPr lang="en-US" sz="2400">
              <a:solidFill>
                <a:srgbClr val="FF0000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886C735-C1C7-45A5-95A4-9373B2FEB6E0}"/>
              </a:ext>
            </a:extLst>
          </p:cNvPr>
          <p:cNvCxnSpPr>
            <a:cxnSpLocks/>
          </p:cNvCxnSpPr>
          <p:nvPr/>
        </p:nvCxnSpPr>
        <p:spPr>
          <a:xfrm flipH="1">
            <a:off x="2314937" y="4778391"/>
            <a:ext cx="1837381" cy="103137"/>
          </a:xfrm>
          <a:prstGeom prst="straightConnector1">
            <a:avLst/>
          </a:prstGeom>
          <a:ln w="571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3581977-3FE2-4D44-B2BF-B5FB58EA015F}"/>
              </a:ext>
            </a:extLst>
          </p:cNvPr>
          <p:cNvSpPr txBox="1"/>
          <p:nvPr/>
        </p:nvSpPr>
        <p:spPr>
          <a:xfrm>
            <a:off x="3771797" y="5039593"/>
            <a:ext cx="570721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call the “score” method and save the result.</a:t>
            </a:r>
            <a:endParaRPr lang="en-US" sz="2400">
              <a:solidFill>
                <a:srgbClr val="FF0000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F509302-1594-4541-9F3B-BEDB1BE2677C}"/>
              </a:ext>
            </a:extLst>
          </p:cNvPr>
          <p:cNvCxnSpPr>
            <a:cxnSpLocks/>
            <a:stCxn id="12" idx="1"/>
          </p:cNvCxnSpPr>
          <p:nvPr/>
        </p:nvCxnSpPr>
        <p:spPr>
          <a:xfrm flipH="1" flipV="1">
            <a:off x="3013707" y="5341622"/>
            <a:ext cx="758090" cy="113470"/>
          </a:xfrm>
          <a:prstGeom prst="straightConnector1">
            <a:avLst/>
          </a:prstGeom>
          <a:ln w="571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AF434B9-D3DA-4F26-82AB-03907B095EFB}"/>
              </a:ext>
            </a:extLst>
          </p:cNvPr>
          <p:cNvSpPr txBox="1"/>
          <p:nvPr/>
        </p:nvSpPr>
        <p:spPr>
          <a:xfrm>
            <a:off x="166456" y="1141649"/>
            <a:ext cx="839161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>
                <a:solidFill>
                  <a:srgbClr val="0070C0"/>
                </a:solidFill>
              </a:rPr>
              <a:t>from sklearn.model_selection import train_test_split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C9FA45-FEE6-4A8D-A6F7-96C088E0D590}"/>
              </a:ext>
            </a:extLst>
          </p:cNvPr>
          <p:cNvSpPr txBox="1"/>
          <p:nvPr/>
        </p:nvSpPr>
        <p:spPr>
          <a:xfrm>
            <a:off x="5451959" y="912726"/>
            <a:ext cx="328366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need another import statement for sklearn.</a:t>
            </a:r>
            <a:endParaRPr lang="en-US" sz="2400">
              <a:solidFill>
                <a:srgbClr val="FF0000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4636953-A991-4209-802B-FFFE58F87A0E}"/>
              </a:ext>
            </a:extLst>
          </p:cNvPr>
          <p:cNvCxnSpPr>
            <a:cxnSpLocks/>
          </p:cNvCxnSpPr>
          <p:nvPr/>
        </p:nvCxnSpPr>
        <p:spPr>
          <a:xfrm flipH="1">
            <a:off x="4838336" y="1305017"/>
            <a:ext cx="523782" cy="0"/>
          </a:xfrm>
          <a:prstGeom prst="straightConnector1">
            <a:avLst/>
          </a:prstGeom>
          <a:ln w="571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D2B0BAC2-0233-4537-93B9-32F9E98D90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914" y="5663953"/>
            <a:ext cx="3400239" cy="66428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19548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2456"/>
    </mc:Choice>
    <mc:Fallback xmlns="">
      <p:transition spd="slow" advTm="31245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2" grpId="0"/>
      <p:bldP spid="11" grpId="0"/>
      <p:bldP spid="1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8|5.3|22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2|26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0.2|5.9|1|5.7|42.9|0.6|12.8|0.7|23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5.8|22.9|28.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4.5|128.9|22|14.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|22.5|111|27.9|66.6|20.4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1954</TotalTime>
  <Words>1317</Words>
  <Application>Microsoft Office PowerPoint</Application>
  <PresentationFormat>On-screen Show (4:3)</PresentationFormat>
  <Paragraphs>121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Evaluation of Models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Decision Trees Part 2</dc:title>
  <dc:creator>Suzanne Smith</dc:creator>
  <cp:lastModifiedBy>Suzanne Smith</cp:lastModifiedBy>
  <cp:revision>61</cp:revision>
  <dcterms:created xsi:type="dcterms:W3CDTF">2018-03-04T22:33:02Z</dcterms:created>
  <dcterms:modified xsi:type="dcterms:W3CDTF">2025-03-10T14:37:09Z</dcterms:modified>
</cp:coreProperties>
</file>