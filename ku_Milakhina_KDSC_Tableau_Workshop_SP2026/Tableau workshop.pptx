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87" r:id="rId5"/>
  </p:sldMasterIdLst>
  <p:notesMasterIdLst>
    <p:notesMasterId r:id="rId26"/>
  </p:notesMasterIdLst>
  <p:sldIdLst>
    <p:sldId id="275" r:id="rId6"/>
    <p:sldId id="827" r:id="rId7"/>
    <p:sldId id="258" r:id="rId8"/>
    <p:sldId id="269" r:id="rId9"/>
    <p:sldId id="270" r:id="rId10"/>
    <p:sldId id="267" r:id="rId11"/>
    <p:sldId id="266" r:id="rId12"/>
    <p:sldId id="273" r:id="rId13"/>
    <p:sldId id="271" r:id="rId14"/>
    <p:sldId id="272" r:id="rId15"/>
    <p:sldId id="260" r:id="rId16"/>
    <p:sldId id="274" r:id="rId17"/>
    <p:sldId id="268" r:id="rId18"/>
    <p:sldId id="264" r:id="rId19"/>
    <p:sldId id="265" r:id="rId20"/>
    <p:sldId id="259" r:id="rId21"/>
    <p:sldId id="261" r:id="rId22"/>
    <p:sldId id="828" r:id="rId23"/>
    <p:sldId id="263" r:id="rId24"/>
    <p:sldId id="26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48"/>
  </p:normalViewPr>
  <p:slideViewPr>
    <p:cSldViewPr snapToGrid="0">
      <p:cViewPr varScale="1">
        <p:scale>
          <a:sx n="103" d="100"/>
          <a:sy n="103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Emma Reece" userId="39b69c01-17b0-40f1-b245-9815dfdd4347" providerId="ADAL" clId="{C40CFE23-9695-4E74-A810-6CF5588487E2}"/>
    <pc:docChg chg="custSel delSld modSld">
      <pc:chgData name="Howard, Emma Reece" userId="39b69c01-17b0-40f1-b245-9815dfdd4347" providerId="ADAL" clId="{C40CFE23-9695-4E74-A810-6CF5588487E2}" dt="2026-04-01T17:10:37.408" v="24" actId="20577"/>
      <pc:docMkLst>
        <pc:docMk/>
      </pc:docMkLst>
      <pc:sldChg chg="modSp mod">
        <pc:chgData name="Howard, Emma Reece" userId="39b69c01-17b0-40f1-b245-9815dfdd4347" providerId="ADAL" clId="{C40CFE23-9695-4E74-A810-6CF5588487E2}" dt="2026-04-01T17:10:08.716" v="22" actId="20577"/>
        <pc:sldMkLst>
          <pc:docMk/>
          <pc:sldMk cId="1797766914" sldId="261"/>
        </pc:sldMkLst>
        <pc:spChg chg="mod">
          <ac:chgData name="Howard, Emma Reece" userId="39b69c01-17b0-40f1-b245-9815dfdd4347" providerId="ADAL" clId="{C40CFE23-9695-4E74-A810-6CF5588487E2}" dt="2026-04-01T17:10:08.716" v="22" actId="20577"/>
          <ac:spMkLst>
            <pc:docMk/>
            <pc:sldMk cId="1797766914" sldId="261"/>
            <ac:spMk id="3" creationId="{929ADA59-553C-38D4-D199-6420023DD279}"/>
          </ac:spMkLst>
        </pc:spChg>
      </pc:sldChg>
      <pc:sldChg chg="modSp mod">
        <pc:chgData name="Howard, Emma Reece" userId="39b69c01-17b0-40f1-b245-9815dfdd4347" providerId="ADAL" clId="{C40CFE23-9695-4E74-A810-6CF5588487E2}" dt="2026-04-01T17:09:18.441" v="18" actId="20577"/>
        <pc:sldMkLst>
          <pc:docMk/>
          <pc:sldMk cId="2553145272" sldId="266"/>
        </pc:sldMkLst>
        <pc:spChg chg="mod">
          <ac:chgData name="Howard, Emma Reece" userId="39b69c01-17b0-40f1-b245-9815dfdd4347" providerId="ADAL" clId="{C40CFE23-9695-4E74-A810-6CF5588487E2}" dt="2026-04-01T17:09:18.441" v="18" actId="20577"/>
          <ac:spMkLst>
            <pc:docMk/>
            <pc:sldMk cId="2553145272" sldId="266"/>
            <ac:spMk id="3" creationId="{22350C60-05FA-85F4-7686-88253FD05EC6}"/>
          </ac:spMkLst>
        </pc:spChg>
      </pc:sldChg>
      <pc:sldChg chg="modSp mod">
        <pc:chgData name="Howard, Emma Reece" userId="39b69c01-17b0-40f1-b245-9815dfdd4347" providerId="ADAL" clId="{C40CFE23-9695-4E74-A810-6CF5588487E2}" dt="2026-04-01T17:10:37.408" v="24" actId="20577"/>
        <pc:sldMkLst>
          <pc:docMk/>
          <pc:sldMk cId="2527953816" sldId="267"/>
        </pc:sldMkLst>
        <pc:spChg chg="mod">
          <ac:chgData name="Howard, Emma Reece" userId="39b69c01-17b0-40f1-b245-9815dfdd4347" providerId="ADAL" clId="{C40CFE23-9695-4E74-A810-6CF5588487E2}" dt="2026-04-01T17:10:37.408" v="24" actId="20577"/>
          <ac:spMkLst>
            <pc:docMk/>
            <pc:sldMk cId="2527953816" sldId="267"/>
            <ac:spMk id="3" creationId="{C84D3EF5-DE7D-D8B7-2EF4-6C4FED9364F5}"/>
          </ac:spMkLst>
        </pc:spChg>
      </pc:sldChg>
      <pc:sldChg chg="modSp mod">
        <pc:chgData name="Howard, Emma Reece" userId="39b69c01-17b0-40f1-b245-9815dfdd4347" providerId="ADAL" clId="{C40CFE23-9695-4E74-A810-6CF5588487E2}" dt="2026-04-01T17:09:32.139" v="19" actId="20577"/>
        <pc:sldMkLst>
          <pc:docMk/>
          <pc:sldMk cId="3599018087" sldId="272"/>
        </pc:sldMkLst>
        <pc:spChg chg="mod">
          <ac:chgData name="Howard, Emma Reece" userId="39b69c01-17b0-40f1-b245-9815dfdd4347" providerId="ADAL" clId="{C40CFE23-9695-4E74-A810-6CF5588487E2}" dt="2026-04-01T17:09:32.139" v="19" actId="20577"/>
          <ac:spMkLst>
            <pc:docMk/>
            <pc:sldMk cId="3599018087" sldId="272"/>
            <ac:spMk id="5" creationId="{45FE03DB-D019-5D1C-A971-2B9DC98A2C9D}"/>
          </ac:spMkLst>
        </pc:spChg>
      </pc:sldChg>
      <pc:sldChg chg="modSp mod">
        <pc:chgData name="Howard, Emma Reece" userId="39b69c01-17b0-40f1-b245-9815dfdd4347" providerId="ADAL" clId="{C40CFE23-9695-4E74-A810-6CF5588487E2}" dt="2026-04-01T17:09:48.858" v="21" actId="20577"/>
        <pc:sldMkLst>
          <pc:docMk/>
          <pc:sldMk cId="3761222797" sldId="274"/>
        </pc:sldMkLst>
        <pc:spChg chg="mod">
          <ac:chgData name="Howard, Emma Reece" userId="39b69c01-17b0-40f1-b245-9815dfdd4347" providerId="ADAL" clId="{C40CFE23-9695-4E74-A810-6CF5588487E2}" dt="2026-04-01T17:09:48.858" v="21" actId="20577"/>
          <ac:spMkLst>
            <pc:docMk/>
            <pc:sldMk cId="3761222797" sldId="274"/>
            <ac:spMk id="11" creationId="{8757F3A3-8554-E34F-011B-53BCDBE8050F}"/>
          </ac:spMkLst>
        </pc:spChg>
      </pc:sldChg>
      <pc:sldChg chg="modSp mod">
        <pc:chgData name="Howard, Emma Reece" userId="39b69c01-17b0-40f1-b245-9815dfdd4347" providerId="ADAL" clId="{C40CFE23-9695-4E74-A810-6CF5588487E2}" dt="2026-04-01T17:08:30.869" v="2" actId="20577"/>
        <pc:sldMkLst>
          <pc:docMk/>
          <pc:sldMk cId="1803999363" sldId="827"/>
        </pc:sldMkLst>
        <pc:spChg chg="mod">
          <ac:chgData name="Howard, Emma Reece" userId="39b69c01-17b0-40f1-b245-9815dfdd4347" providerId="ADAL" clId="{C40CFE23-9695-4E74-A810-6CF5588487E2}" dt="2026-04-01T17:08:30.869" v="2" actId="20577"/>
          <ac:spMkLst>
            <pc:docMk/>
            <pc:sldMk cId="1803999363" sldId="827"/>
            <ac:spMk id="4" creationId="{00000000-0000-0000-0000-000000000000}"/>
          </ac:spMkLst>
        </pc:spChg>
      </pc:sldChg>
      <pc:sldChg chg="del">
        <pc:chgData name="Howard, Emma Reece" userId="39b69c01-17b0-40f1-b245-9815dfdd4347" providerId="ADAL" clId="{C40CFE23-9695-4E74-A810-6CF5588487E2}" dt="2026-04-01T17:08:09.016" v="0" actId="47"/>
        <pc:sldMkLst>
          <pc:docMk/>
          <pc:sldMk cId="3890378825" sldId="8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AA9F0-F522-464B-BF15-BDDFA6D6070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69267-5103-2849-98F5-1B235EFAC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2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/>
          </a:p>
        </p:txBody>
      </p:sp>
      <p:sp>
        <p:nvSpPr>
          <p:cNvPr id="141" name="Google Shape;14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56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65313" y="354784"/>
            <a:ext cx="10776923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907774" y="1411769"/>
            <a:ext cx="10515600" cy="4814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21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39971" y="414895"/>
            <a:ext cx="10320580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557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38198" y="6356349"/>
            <a:ext cx="2966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956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65137" y="385161"/>
            <a:ext cx="11313354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38198" y="6356349"/>
            <a:ext cx="2966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69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38198" y="6356349"/>
            <a:ext cx="2966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804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3088" y="-29206"/>
            <a:ext cx="10348912" cy="69006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-195072" y="-81107"/>
            <a:ext cx="5478274" cy="7033662"/>
          </a:xfrm>
          <a:custGeom>
            <a:avLst/>
            <a:gdLst/>
            <a:ahLst/>
            <a:cxnLst/>
            <a:rect l="l" t="t" r="r" b="b"/>
            <a:pathLst>
              <a:path w="5351929" h="6871447" extrusionOk="0">
                <a:moveTo>
                  <a:pt x="0" y="0"/>
                </a:moveTo>
                <a:lnTo>
                  <a:pt x="5351929" y="0"/>
                </a:lnTo>
                <a:lnTo>
                  <a:pt x="3482788" y="687144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021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358590" y="-516404"/>
            <a:ext cx="1003609" cy="1817649"/>
          </a:xfrm>
          <a:prstGeom prst="parallelogram">
            <a:avLst>
              <a:gd name="adj" fmla="val 48770"/>
            </a:avLst>
          </a:prstGeom>
          <a:solidFill>
            <a:srgbClr val="042D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577493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99966" y="5659423"/>
            <a:ext cx="3076264" cy="876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0453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665911"/>
            <a:ext cx="10515600" cy="451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513509" y="0"/>
            <a:ext cx="649381" cy="1817649"/>
          </a:xfrm>
          <a:custGeom>
            <a:avLst/>
            <a:gdLst/>
            <a:ahLst/>
            <a:cxnLst/>
            <a:rect l="l" t="t" r="r" b="b"/>
            <a:pathLst>
              <a:path w="649381" h="1817649" extrusionOk="0">
                <a:moveTo>
                  <a:pt x="0" y="1809411"/>
                </a:moveTo>
                <a:lnTo>
                  <a:pt x="486797" y="2663"/>
                </a:lnTo>
                <a:lnTo>
                  <a:pt x="649381" y="0"/>
                </a:lnTo>
                <a:lnTo>
                  <a:pt x="159921" y="1817649"/>
                </a:lnTo>
                <a:lnTo>
                  <a:pt x="0" y="1809411"/>
                </a:lnTo>
                <a:close/>
              </a:path>
            </a:pathLst>
          </a:custGeom>
          <a:solidFill>
            <a:srgbClr val="E021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2598" y="208616"/>
            <a:ext cx="11964257" cy="982720"/>
          </a:xfrm>
          <a:custGeom>
            <a:avLst/>
            <a:gdLst/>
            <a:ahLst/>
            <a:cxnLst/>
            <a:rect l="l" t="t" r="r" b="b"/>
            <a:pathLst>
              <a:path w="7912660" h="495647" extrusionOk="0">
                <a:moveTo>
                  <a:pt x="0" y="0"/>
                </a:moveTo>
                <a:lnTo>
                  <a:pt x="7912660" y="0"/>
                </a:lnTo>
                <a:lnTo>
                  <a:pt x="7772617" y="495647"/>
                </a:lnTo>
                <a:lnTo>
                  <a:pt x="0" y="495647"/>
                </a:lnTo>
                <a:lnTo>
                  <a:pt x="0" y="0"/>
                </a:lnTo>
                <a:close/>
              </a:path>
            </a:pathLst>
          </a:custGeom>
          <a:solidFill>
            <a:srgbClr val="0F4B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65137" y="385161"/>
            <a:ext cx="11313354" cy="6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E2F3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D8E2F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9583" y="562451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ftr" idx="11"/>
          </p:nvPr>
        </p:nvSpPr>
        <p:spPr>
          <a:xfrm>
            <a:off x="935710" y="6384114"/>
            <a:ext cx="40934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5" descr="A close up of a 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02007" y="5828506"/>
            <a:ext cx="303530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46483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qbi.uq.edu.au/brain/cognition-and-behaviour/visual-percep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tableau.com/current/pro/desktop/en-us/order_of_operations.htm" TargetMode="External"/><Relationship Id="rId3" Type="http://schemas.openxmlformats.org/officeDocument/2006/relationships/hyperlink" Target="https://color.adobe.com/create/color-wheel" TargetMode="External"/><Relationship Id="rId7" Type="http://schemas.openxmlformats.org/officeDocument/2006/relationships/hyperlink" Target="https://www.coursera.org/specializations/data-visualization" TargetMode="External"/><Relationship Id="rId2" Type="http://schemas.openxmlformats.org/officeDocument/2006/relationships/hyperlink" Target="https://bioapps.byu.edu/colorblind_image_test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icyviz.com/" TargetMode="External"/><Relationship Id="rId5" Type="http://schemas.openxmlformats.org/officeDocument/2006/relationships/hyperlink" Target="https://www.edwardtufte.com/" TargetMode="External"/><Relationship Id="rId4" Type="http://schemas.openxmlformats.org/officeDocument/2006/relationships/hyperlink" Target="https://www.storytellingwithdata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short-reads/2025/12/15/our-favorite-data-visualizations-of-2025/" TargetMode="External"/><Relationship Id="rId7" Type="http://schemas.openxmlformats.org/officeDocument/2006/relationships/hyperlink" Target="https://analythical.com/blog/examples-of-awful-data-visualization" TargetMode="External"/><Relationship Id="rId2" Type="http://schemas.openxmlformats.org/officeDocument/2006/relationships/hyperlink" Target="https://www.nytimes.com/spotlight/graph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economist.com/mistakes-weve-drawn-a-few-8cdd8a42d368" TargetMode="External"/><Relationship Id="rId5" Type="http://schemas.openxmlformats.org/officeDocument/2006/relationships/hyperlink" Target="https://www.tableau.com/blog/most-favorited-data-visualizations-tableau-public" TargetMode="External"/><Relationship Id="rId4" Type="http://schemas.openxmlformats.org/officeDocument/2006/relationships/hyperlink" Target="https://abcnews.com/538/26-charts-helped-explain-2024-politics/story?id=116925033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354361" y="5932627"/>
            <a:ext cx="6171230" cy="502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March 31, 2026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-172995" y="1270000"/>
            <a:ext cx="12364995" cy="394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 defTabSz="914400">
              <a:lnSpc>
                <a:spcPct val="85227"/>
              </a:lnSpc>
              <a:buClr>
                <a:srgbClr val="000000"/>
              </a:buClr>
            </a:pPr>
            <a:r>
              <a:rPr lang="en-US" sz="8000" dirty="0">
                <a:solidFill>
                  <a:schemeClr val="bg1"/>
                </a:solidFill>
              </a:rPr>
              <a:t>Dashboards with Tableau</a:t>
            </a:r>
          </a:p>
          <a:p>
            <a:pPr lvl="0" algn="ctr" defTabSz="914400">
              <a:lnSpc>
                <a:spcPct val="85227"/>
              </a:lnSpc>
              <a:buClr>
                <a:srgbClr val="000000"/>
              </a:buClr>
            </a:pPr>
            <a:r>
              <a:rPr lang="en-US" sz="3200" dirty="0">
                <a:solidFill>
                  <a:schemeClr val="bg1"/>
                </a:solidFill>
              </a:rPr>
              <a:t>Daria Milakhina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Associate Researcher, IPSR</a:t>
            </a:r>
          </a:p>
          <a:p>
            <a:pPr algn="ctr"/>
            <a:r>
              <a:rPr lang="en-US" sz="3200" dirty="0" err="1">
                <a:solidFill>
                  <a:schemeClr val="bg1"/>
                </a:solidFill>
              </a:rPr>
              <a:t>dmilakhin@ku.edu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1270000" y="1270000"/>
            <a:ext cx="63500" cy="7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000E7-5E05-844B-B48F-9A81D8E5E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6E2E51-A87C-2A58-17F7-EBCE5C64E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the workshop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22514" y="1800085"/>
            <a:ext cx="9836190" cy="4099971"/>
          </a:xfrm>
        </p:spPr>
        <p:txBody>
          <a:bodyPr/>
          <a:lstStyle/>
          <a:p>
            <a:r>
              <a:rPr lang="en-US" sz="2800" dirty="0"/>
              <a:t>Data Viz basics and best practices</a:t>
            </a:r>
          </a:p>
          <a:p>
            <a:r>
              <a:rPr lang="en-US" sz="2800" dirty="0"/>
              <a:t>Brief intro to Tableau</a:t>
            </a:r>
          </a:p>
          <a:p>
            <a:r>
              <a:rPr lang="en-US" sz="2800" dirty="0"/>
              <a:t>Build together simple dashboard</a:t>
            </a:r>
          </a:p>
          <a:p>
            <a:r>
              <a:rPr lang="en-US" sz="2800" dirty="0"/>
              <a:t>Build on your own another dashboard</a:t>
            </a:r>
          </a:p>
          <a:p>
            <a:pPr marL="114300" indent="0">
              <a:buNone/>
            </a:pPr>
            <a:endParaRPr lang="en-US" sz="2800" dirty="0"/>
          </a:p>
          <a:p>
            <a:pPr marL="114300" indent="0">
              <a:buNone/>
            </a:pPr>
            <a:r>
              <a:rPr lang="en-US" sz="2800" dirty="0"/>
              <a:t>At the end you’ll know how to import data, use tool tips, use filters and actions, emphasize with color, change default appearance of the chart, create calculated fields. </a:t>
            </a:r>
          </a:p>
          <a:p>
            <a:endParaRPr lang="en-US" sz="2800" dirty="0"/>
          </a:p>
          <a:p>
            <a:pPr marL="114300" indent="0">
              <a:buNone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399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E190-033C-C38C-3761-24031078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vs Explanatory Visualizations: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2FB2-7479-8C23-236F-BB308B7C9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u="sng" dirty="0"/>
              <a:t>Exploratory</a:t>
            </a:r>
            <a:r>
              <a:rPr lang="en-US" sz="2800" dirty="0"/>
              <a:t> is for analysis and discovering insights. The users are analysts, data scientists, etc. Can be quick and messy.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u="sng" dirty="0"/>
              <a:t>Explanatory</a:t>
            </a:r>
            <a:r>
              <a:rPr lang="en-US" sz="2800" dirty="0"/>
              <a:t> is for storytelling, conveying results of analysis to the user. The users are stakeholders, general public, etc. Needs to be thought through and polished.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2800" u="sng" dirty="0"/>
              <a:t>We’ll focus on explanatory visualizations.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8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3608-09B3-DA37-C90B-AE694EC3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our brain perceives visual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DB26-6A6E-D06C-6725-AAEBF7D6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Our brain takes way less time to grasp and interpret visual data than reading a text or listening to a lecture.</a:t>
            </a:r>
          </a:p>
          <a:p>
            <a:r>
              <a:rPr lang="en-US" sz="2800" dirty="0"/>
              <a:t>The brain uses past experiences to interpret ambiguous visual data, </a:t>
            </a:r>
            <a:r>
              <a:rPr lang="en-US" sz="2800" u="sng" dirty="0"/>
              <a:t>prioritizing quick understanding over perfect accuracy.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More on that: </a:t>
            </a:r>
            <a:r>
              <a:rPr lang="en-US" sz="2800" dirty="0">
                <a:hlinkClick r:id="rId2"/>
              </a:rPr>
              <a:t>https://qbi.uq.edu.au/brain/cognition-and-behaviour/visual-perception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When creating data visualization, it matters how accurate the reader can perceive the data values.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856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AD3E-196C-BF17-2F9F-C02ED8CC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Cairo(2016) perceptual ranking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B0497-017E-15A3-6A35-B93A59CE8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0307"/>
            <a:ext cx="4651188" cy="5677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D7BC13-1AAB-1EB6-170A-8146A112B54A}"/>
              </a:ext>
            </a:extLst>
          </p:cNvPr>
          <p:cNvSpPr txBox="1"/>
          <p:nvPr/>
        </p:nvSpPr>
        <p:spPr>
          <a:xfrm>
            <a:off x="5965372" y="1567543"/>
            <a:ext cx="53884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easier to compare the data in line chart, bar charts and area charts that have same axis and baseline.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that easy to perceive are angle, area, volume and color (e.g. bar chart vs shading in a map to depict value).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A648-B860-D14B-B9CF-F8C6759D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3EF5-DE7D-D8B7-2EF4-6C4FED936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Start with the clear question you want to answer.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Make visuals clear, </a:t>
            </a:r>
            <a:r>
              <a:rPr lang="en-US"/>
              <a:t>limit fonts </a:t>
            </a:r>
            <a:r>
              <a:rPr lang="en-US" dirty="0"/>
              <a:t>and colors, but provide visual cues to guide the user to the main points.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Aesthetics matter. Find your style.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5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7EBF-8F36-6EAD-871B-159B9D41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0C60-05FA-85F4-7686-88253FD0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974" y="1270255"/>
            <a:ext cx="10515600" cy="4814890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Ink/data ratio - Reduce clutter (remove axes, gridlines, tick marks, outlines,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with no color (everything is grey)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Tables with numbers &lt; 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Don’t be afraid to explain how to read/interpret the graph – Full sentence titles and labels, annotations, instructions on how to interact,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for accessibility (at the very least – how it prints black and white)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Align using numbers/coordinates, not visual check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viewers scan web content starting at the top left of a web page. Order visuals accordingly.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Tailor your graphics for the type of the reader (general public, scholars, policy makers,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can’t assume the reader is paying attention to details</a:t>
            </a:r>
          </a:p>
          <a:p>
            <a:pPr>
              <a:buFontTx/>
              <a:buChar char="-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14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8DA8-B088-1EB5-FC24-93E7DD74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Example</a:t>
            </a:r>
            <a:br>
              <a:rPr lang="en-US" dirty="0"/>
            </a:br>
            <a:r>
              <a:rPr lang="en-US" dirty="0"/>
              <a:t>Data table (it’s ok):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EA69DC-3766-DE01-D005-19B0EBAF632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3729" t="2618"/>
          <a:stretch>
            <a:fillRect/>
          </a:stretch>
        </p:blipFill>
        <p:spPr>
          <a:xfrm>
            <a:off x="4524205" y="2140177"/>
            <a:ext cx="3259137" cy="300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52F-F5ED-DD16-2B35-20BCA492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Excel chart (not terrible):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0C26DF-E05A-1E60-ED36-89995D73E67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176418" y="1790927"/>
            <a:ext cx="5954712" cy="35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4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B533-6871-5976-2FAA-845AA737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Cleaned up (better)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0DB1A7-5451-D974-B704-90F6CD674BA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987301" y="1440230"/>
            <a:ext cx="6721475" cy="3000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FE03DB-D019-5D1C-A971-2B9DC98A2C9D}"/>
              </a:ext>
            </a:extLst>
          </p:cNvPr>
          <p:cNvSpPr txBox="1"/>
          <p:nvPr/>
        </p:nvSpPr>
        <p:spPr>
          <a:xfrm>
            <a:off x="3187979" y="4440605"/>
            <a:ext cx="63201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Reduced clutter by removing axes, grid lines, etc.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Color for emphasis</a:t>
            </a:r>
          </a:p>
          <a:p>
            <a:pPr marL="285750" indent="-285750">
              <a:buFontTx/>
              <a:buChar char="-"/>
            </a:pPr>
            <a:r>
              <a:rPr lang="en-US" dirty="0"/>
              <a:t>Labels on the bars for more straightforward understanding of data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01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26B4-A9CC-09A3-54A2-03822753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side note about pie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BDC2-5101-B14E-E1E8-C4CF28A49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This is subjective, but here is why you shouldn’t be using them ever: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Our eyes have hard time judging angles</a:t>
            </a:r>
          </a:p>
          <a:p>
            <a:r>
              <a:rPr lang="en-US" dirty="0"/>
              <a:t>Circle is hard to label cleanly</a:t>
            </a:r>
          </a:p>
          <a:p>
            <a:pPr marL="0" indent="0">
              <a:buNone/>
            </a:pPr>
            <a:r>
              <a:rPr lang="en-US" dirty="0"/>
              <a:t>Because of the above many people have strong preference against pie charts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is a perfect substitute – horizontal stacked bars</a:t>
            </a:r>
          </a:p>
          <a:p>
            <a:pPr marL="0" indent="0">
              <a:buNone/>
            </a:pPr>
            <a:r>
              <a:rPr lang="en-US" dirty="0"/>
              <a:t>Because of the above very not many people have preference in favor of pie charts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So, why annoy first group of people?</a:t>
            </a:r>
          </a:p>
        </p:txBody>
      </p:sp>
    </p:spTree>
    <p:extLst>
      <p:ext uri="{BB962C8B-B14F-4D97-AF65-F5344CB8AC3E}">
        <p14:creationId xmlns:p14="http://schemas.microsoft.com/office/powerpoint/2010/main" val="407924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C354-0F8C-3743-6970-73F513D0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to illustrate….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EB009-832F-E115-B49B-097856D2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89" t="15396" r="8599" b="16462"/>
          <a:stretch>
            <a:fillRect/>
          </a:stretch>
        </p:blipFill>
        <p:spPr>
          <a:xfrm>
            <a:off x="6096000" y="2541656"/>
            <a:ext cx="5298142" cy="2500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432B7B-ADCA-C5FE-DCAD-E955AB48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24" t="6563" r="4599" b="9537"/>
          <a:stretch>
            <a:fillRect/>
          </a:stretch>
        </p:blipFill>
        <p:spPr>
          <a:xfrm>
            <a:off x="1023257" y="1855546"/>
            <a:ext cx="5105394" cy="36308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57F3A3-8554-E34F-011B-53BCDBE8050F}"/>
              </a:ext>
            </a:extLst>
          </p:cNvPr>
          <p:cNvSpPr txBox="1"/>
          <p:nvPr/>
        </p:nvSpPr>
        <p:spPr>
          <a:xfrm>
            <a:off x="1345988" y="5347900"/>
            <a:ext cx="9197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Data source: It’s made up, but that’s how it feels to me</a:t>
            </a:r>
          </a:p>
        </p:txBody>
      </p:sp>
    </p:spTree>
    <p:extLst>
      <p:ext uri="{BB962C8B-B14F-4D97-AF65-F5344CB8AC3E}">
        <p14:creationId xmlns:p14="http://schemas.microsoft.com/office/powerpoint/2010/main" val="376122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9BCC-1F72-6295-707C-772C32E6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side note about technical statistical graphs: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28AD4-854E-6759-5A34-D87999254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use them for academic papers (or don’t)</a:t>
            </a:r>
          </a:p>
          <a:p>
            <a:endParaRPr lang="en-US" dirty="0"/>
          </a:p>
          <a:p>
            <a:r>
              <a:rPr lang="en-US" dirty="0"/>
              <a:t>Don’t use them for general public. Figure out the main message you want to present and find a simple graph for that.</a:t>
            </a:r>
          </a:p>
          <a:p>
            <a:endParaRPr lang="en-US" dirty="0"/>
          </a:p>
          <a:p>
            <a:r>
              <a:rPr lang="en-US" dirty="0"/>
              <a:t>If you must use them for general public – overexplain what everything means.</a:t>
            </a:r>
          </a:p>
        </p:txBody>
      </p:sp>
    </p:spTree>
    <p:extLst>
      <p:ext uri="{BB962C8B-B14F-4D97-AF65-F5344CB8AC3E}">
        <p14:creationId xmlns:p14="http://schemas.microsoft.com/office/powerpoint/2010/main" val="6998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8680-E402-FF86-F3F2-9F19E891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4DB4-EB51-86BB-D8AC-50076EB7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7445"/>
            <a:ext cx="10515600" cy="49485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To check for accessibility</a:t>
            </a:r>
          </a:p>
          <a:p>
            <a:pPr marL="0" indent="0">
              <a:buNone/>
            </a:pPr>
            <a:r>
              <a:rPr lang="en-US" u="sng" dirty="0">
                <a:hlinkClick r:id="rId2"/>
              </a:rPr>
              <a:t>https://bioapps.byu.edu/colorblind_image_tester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Color combinations, check for contrast, color blindness: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color.adobe.com</a:t>
            </a:r>
            <a:r>
              <a:rPr lang="en-US" dirty="0">
                <a:hlinkClick r:id="rId3"/>
              </a:rPr>
              <a:t>/create/color-wheel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Books and Websites:</a:t>
            </a:r>
          </a:p>
          <a:p>
            <a:r>
              <a:rPr lang="en-US" dirty="0"/>
              <a:t>Storytelling with data, Cole Nussbaumer </a:t>
            </a:r>
            <a:r>
              <a:rPr lang="en-US" dirty="0" err="1"/>
              <a:t>Knaflic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www.storytellingwithdata.com</a:t>
            </a:r>
            <a:r>
              <a:rPr lang="en-US" dirty="0">
                <a:hlinkClick r:id="rId4"/>
              </a:rPr>
              <a:t>/</a:t>
            </a:r>
            <a:endParaRPr lang="en-US" dirty="0"/>
          </a:p>
          <a:p>
            <a:r>
              <a:rPr lang="en-US" dirty="0"/>
              <a:t>The Visual Display of Quantitative Information Edward Tufte, </a:t>
            </a:r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www.edwardtufte.com</a:t>
            </a:r>
            <a:r>
              <a:rPr lang="en-US" dirty="0">
                <a:hlinkClick r:id="rId5"/>
              </a:rPr>
              <a:t>/</a:t>
            </a:r>
            <a:endParaRPr lang="en-US" dirty="0"/>
          </a:p>
          <a:p>
            <a:r>
              <a:rPr lang="en-US" dirty="0"/>
              <a:t>Better Data Visualizations Jonathan </a:t>
            </a:r>
            <a:r>
              <a:rPr lang="en-US" dirty="0" err="1"/>
              <a:t>Schwabish</a:t>
            </a:r>
            <a:r>
              <a:rPr lang="en-US" dirty="0"/>
              <a:t>,  </a:t>
            </a:r>
            <a:r>
              <a:rPr lang="en-US" u="sng" dirty="0">
                <a:hlinkClick r:id="rId6"/>
              </a:rPr>
              <a:t>https://policyviz.com/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UC Davis Coursera Tableau series:</a:t>
            </a:r>
          </a:p>
          <a:p>
            <a:pPr marL="0" indent="0">
              <a:buNone/>
            </a:pPr>
            <a:r>
              <a:rPr lang="en-US" u="sng" dirty="0">
                <a:hlinkClick r:id="rId7"/>
              </a:rPr>
              <a:t>https://www.coursera.org/specializations/data-visualization</a:t>
            </a: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Tableau Help is a useful fist stop, specifically here is an article about order of operations:</a:t>
            </a:r>
            <a:endParaRPr lang="en-US" dirty="0"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46788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https://help.tableau.com/current/pro/desktop/en-us/order_of_operations.htm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432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1580-D9C2-13A0-AEF1-036B65A7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DDDBB-4712-0D6A-2AAD-FE0537ED4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5657"/>
            <a:ext cx="10515600" cy="48597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Excellent style for visuals:</a:t>
            </a:r>
            <a:endParaRPr lang="en-US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u="sng" dirty="0">
              <a:solidFill>
                <a:srgbClr val="467886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https://www.nytimes.com/spotlight/graphics</a:t>
            </a:r>
            <a:endParaRPr lang="en-US" u="sng" dirty="0"/>
          </a:p>
          <a:p>
            <a:pPr marL="0" indent="0">
              <a:buNone/>
            </a:pPr>
            <a:r>
              <a:rPr lang="en-US" u="sng" dirty="0">
                <a:hlinkClick r:id="rId3"/>
              </a:rPr>
              <a:t>https://www.pewresearch.org/short-reads/2025/12/15/our-favorite-data-visualizations-of-2025/</a:t>
            </a:r>
            <a:endParaRPr lang="en-US" u="sng" dirty="0"/>
          </a:p>
          <a:p>
            <a:pPr marL="0" indent="0">
              <a:buNone/>
            </a:pPr>
            <a:r>
              <a:rPr lang="en-US" u="sng" dirty="0">
                <a:hlinkClick r:id="rId4"/>
              </a:rPr>
              <a:t>https://abcnews.com/538/26-charts-helped-explain-2024-politics/story?id=116925033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hlinkClick r:id="rId5"/>
              </a:rPr>
              <a:t>https://www.tableau.com/blog/most-favorited-data-visualizations-tableau-public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Learning from mistakes with explanations:</a:t>
            </a:r>
            <a:endParaRPr lang="en-US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6"/>
              </a:rPr>
              <a:t>https://medium.economist.com/mistakes-weve-drawn-a-few-8cdd8a42d368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7"/>
              </a:rPr>
              <a:t>https://analythical.com/blog/examples-of-awful-data-visualization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606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8D0D-504C-E3AE-75BA-F77D5143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Tableau?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6736-0ED3-3C42-67C3-9F8166944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Pros:</a:t>
            </a:r>
            <a:endParaRPr lang="ru-RU" dirty="0"/>
          </a:p>
          <a:p>
            <a:r>
              <a:rPr lang="en-US" dirty="0"/>
              <a:t>Easy interface</a:t>
            </a:r>
          </a:p>
          <a:p>
            <a:r>
              <a:rPr lang="en-US" dirty="0"/>
              <a:t>Excellent interactivity features</a:t>
            </a:r>
          </a:p>
          <a:p>
            <a:r>
              <a:rPr lang="en-US" dirty="0"/>
              <a:t>Great maps (easier to set up than ArcGIS, better than Power BI)</a:t>
            </a:r>
          </a:p>
          <a:p>
            <a:r>
              <a:rPr lang="en-US" dirty="0"/>
              <a:t>Easier to customize than tools that rely heavily on programming.</a:t>
            </a:r>
          </a:p>
          <a:p>
            <a:r>
              <a:rPr lang="en-US" dirty="0"/>
              <a:t>Sleek visuals even if you don’t want to customize (though you do want to customize!)</a:t>
            </a:r>
          </a:p>
          <a:p>
            <a:r>
              <a:rPr lang="en-US" dirty="0"/>
              <a:t>Marketable skill</a:t>
            </a:r>
          </a:p>
          <a:p>
            <a:r>
              <a:rPr lang="en-US" dirty="0"/>
              <a:t>Excellent for exploratory analysis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Cleaning data in Tableau is painful – Power BI does a better job</a:t>
            </a:r>
          </a:p>
          <a:p>
            <a:r>
              <a:rPr lang="en-US" dirty="0"/>
              <a:t>Costly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613F-1CA8-00E3-5912-0366D989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Tableau options to sharpen your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ADA59-553C-38D4-D199-6420023D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Tableau Public. </a:t>
            </a:r>
            <a:r>
              <a:rPr lang="en-US" dirty="0"/>
              <a:t>Allows to share your </a:t>
            </a:r>
            <a:r>
              <a:rPr lang="en-US" dirty="0" err="1"/>
              <a:t>vizzes</a:t>
            </a:r>
            <a:r>
              <a:rPr lang="en-US" dirty="0"/>
              <a:t>, however all of them are in public access. Don’t use with sensitive data! Not all features of desktop version work. Great to embed into website or for practice.</a:t>
            </a:r>
          </a:p>
          <a:p>
            <a:r>
              <a:rPr lang="en-US" u="sng" dirty="0"/>
              <a:t>Tableau Desktop Free Version</a:t>
            </a:r>
            <a:r>
              <a:rPr lang="en-US" dirty="0"/>
              <a:t>. Just released. Can’t share </a:t>
            </a:r>
            <a:r>
              <a:rPr lang="en-US" dirty="0" err="1"/>
              <a:t>vizzes</a:t>
            </a:r>
            <a:r>
              <a:rPr lang="en-US" dirty="0"/>
              <a:t>, can save pictures into pdf. Excellent practice tool! Download it and play with it!</a:t>
            </a:r>
          </a:p>
          <a:p>
            <a:r>
              <a:rPr lang="en-US" u="sng" dirty="0"/>
              <a:t>Tableau Desktop Public Edition. </a:t>
            </a:r>
            <a:r>
              <a:rPr lang="en-US" dirty="0"/>
              <a:t>Limits data to 15M rows, can share to Tableau Public. </a:t>
            </a:r>
          </a:p>
        </p:txBody>
      </p:sp>
    </p:spTree>
    <p:extLst>
      <p:ext uri="{BB962C8B-B14F-4D97-AF65-F5344CB8AC3E}">
        <p14:creationId xmlns:p14="http://schemas.microsoft.com/office/powerpoint/2010/main" val="17977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2B97-1C99-BA0C-78DB-310916D9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for Tableau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B44EA-9EA3-EA78-A1A5-E15E8804F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1427"/>
            <a:ext cx="10515600" cy="4074631"/>
          </a:xfrm>
        </p:spPr>
        <p:txBody>
          <a:bodyPr/>
          <a:lstStyle/>
          <a:p>
            <a:r>
              <a:rPr lang="en-US" sz="2000" dirty="0"/>
              <a:t>Tableau can use data from various sources and in many formats</a:t>
            </a:r>
          </a:p>
          <a:p>
            <a:r>
              <a:rPr lang="en-US" sz="2000" dirty="0"/>
              <a:t>For learning purposes, most of the time you’ll have spreadsheets</a:t>
            </a:r>
          </a:p>
          <a:p>
            <a:r>
              <a:rPr lang="en-US" sz="2000" dirty="0"/>
              <a:t>Data needs to be tall and skinny</a:t>
            </a:r>
          </a:p>
          <a:p>
            <a:r>
              <a:rPr lang="en-US" sz="2000" dirty="0"/>
              <a:t>Labels in first row</a:t>
            </a:r>
          </a:p>
          <a:p>
            <a:r>
              <a:rPr lang="en-US" sz="2000" dirty="0"/>
              <a:t>In the lowest dimension you’ll need to show. General recommendation is to disaggregate, but you have a lot of data - you might need to use totals for faster processing</a:t>
            </a:r>
          </a:p>
          <a:p>
            <a:r>
              <a:rPr lang="en-US" sz="2000" dirty="0"/>
              <a:t>Tableau splits variables into dimensions (categories) or measures (numeric value)</a:t>
            </a:r>
          </a:p>
          <a:p>
            <a:r>
              <a:rPr lang="en-US" sz="2000" dirty="0"/>
              <a:t>Create relationships between different datasets if you need them to work together.</a:t>
            </a:r>
          </a:p>
          <a:p>
            <a:r>
              <a:rPr lang="en-US" sz="2000" dirty="0"/>
              <a:t>Generally, avoid cleaning data in Tableau </a:t>
            </a:r>
          </a:p>
        </p:txBody>
      </p:sp>
    </p:spTree>
    <p:extLst>
      <p:ext uri="{BB962C8B-B14F-4D97-AF65-F5344CB8AC3E}">
        <p14:creationId xmlns:p14="http://schemas.microsoft.com/office/powerpoint/2010/main" val="414061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B0AD-A0E0-D106-66AA-2D1CBD7F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14F25-F8A1-CEA0-02EB-285E4534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891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Let’s make sure you: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Either created an account in Tableau Public or downloaded Tableau Desktop Free Edition</a:t>
            </a:r>
          </a:p>
          <a:p>
            <a:r>
              <a:rPr lang="en-US" dirty="0"/>
              <a:t>Downloaded data and instructions for exercise one and two.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52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A47-AF43-74DB-2A1B-D7BC3EEA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just jump right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5E299-43FF-8020-E266-62450BCD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/>
              <a:t>Exercise one:</a:t>
            </a:r>
          </a:p>
          <a:p>
            <a:pPr marL="0" indent="0">
              <a:buNone/>
            </a:pPr>
            <a:r>
              <a:rPr lang="en-US" dirty="0"/>
              <a:t>Using data on KS population by year by county, we will:</a:t>
            </a:r>
          </a:p>
          <a:p>
            <a:pPr marL="0" indent="0">
              <a:buNone/>
            </a:pPr>
            <a:r>
              <a:rPr lang="en-US" dirty="0"/>
              <a:t>- Create a dashboard there shows map of KS with counties color coded by whether the population increased of decreased in the last 40 years. </a:t>
            </a:r>
          </a:p>
          <a:p>
            <a:pPr marL="0" indent="0">
              <a:buNone/>
            </a:pPr>
            <a:r>
              <a:rPr lang="en-US" dirty="0"/>
              <a:t>- Include a pie chart with the percentage of KS population by county. Just kidding, we won’t.</a:t>
            </a:r>
          </a:p>
          <a:p>
            <a:pPr marL="0" indent="0">
              <a:buNone/>
            </a:pPr>
            <a:r>
              <a:rPr lang="en-US" dirty="0"/>
              <a:t>- Add interactive features: when user clicks on a county – show a graph with population numbers for all 4 years of data. </a:t>
            </a:r>
          </a:p>
          <a:p>
            <a:pPr marL="0" indent="0">
              <a:buNone/>
            </a:pPr>
            <a:r>
              <a:rPr lang="en-US" dirty="0"/>
              <a:t>- Change the default formatting to best practices.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659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42EA8C972DF0428D9BF2D3EE5B47C9" ma:contentTypeVersion="15" ma:contentTypeDescription="Create a new document." ma:contentTypeScope="" ma:versionID="67cc7542adc561f90eb5d8e796fe7f74">
  <xsd:schema xmlns:xsd="http://www.w3.org/2001/XMLSchema" xmlns:xs="http://www.w3.org/2001/XMLSchema" xmlns:p="http://schemas.microsoft.com/office/2006/metadata/properties" xmlns:ns2="d09fade3-7ae3-4c16-95c6-44be66091293" xmlns:ns3="fac34b18-9f34-48f9-ae20-e50aab687cd3" targetNamespace="http://schemas.microsoft.com/office/2006/metadata/properties" ma:root="true" ma:fieldsID="794c760f791d6ed705687d67b55b3388" ns2:_="" ns3:_="">
    <xsd:import namespace="d09fade3-7ae3-4c16-95c6-44be66091293"/>
    <xsd:import namespace="fac34b18-9f34-48f9-ae20-e50aab687c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fade3-7ae3-4c16-95c6-44be66091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c2c5899-478d-4689-af14-80570c5f1c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34b18-9f34-48f9-ae20-e50aab687cd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5788537-dc54-4f2b-8045-8533c49c440d}" ma:internalName="TaxCatchAll" ma:showField="CatchAllData" ma:web="fac34b18-9f34-48f9-ae20-e50aab687c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9fade3-7ae3-4c16-95c6-44be66091293">
      <Terms xmlns="http://schemas.microsoft.com/office/infopath/2007/PartnerControls"/>
    </lcf76f155ced4ddcb4097134ff3c332f>
    <TaxCatchAll xmlns="fac34b18-9f34-48f9-ae20-e50aab687cd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0298D5-461A-490F-8A64-01242B7623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9fade3-7ae3-4c16-95c6-44be66091293"/>
    <ds:schemaRef ds:uri="fac34b18-9f34-48f9-ae20-e50aab687c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46D575-DFE1-4D1A-8F8E-F3CC7E672EE1}">
  <ds:schemaRefs>
    <ds:schemaRef ds:uri="http://schemas.microsoft.com/office/2006/metadata/properties"/>
    <ds:schemaRef ds:uri="http://schemas.microsoft.com/office/infopath/2007/PartnerControls"/>
    <ds:schemaRef ds:uri="d09fade3-7ae3-4c16-95c6-44be66091293"/>
    <ds:schemaRef ds:uri="fac34b18-9f34-48f9-ae20-e50aab687cd3"/>
  </ds:schemaRefs>
</ds:datastoreItem>
</file>

<file path=customXml/itemProps3.xml><?xml version="1.0" encoding="utf-8"?>
<ds:datastoreItem xmlns:ds="http://schemas.openxmlformats.org/officeDocument/2006/customXml" ds:itemID="{B5EE11B9-F6B8-4746-B5BD-F992A721F4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7165</TotalTime>
  <Words>1296</Words>
  <Application>Microsoft Office PowerPoint</Application>
  <PresentationFormat>Widescreen</PresentationFormat>
  <Paragraphs>142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Custom Design</vt:lpstr>
      <vt:lpstr>7_Custom Design</vt:lpstr>
      <vt:lpstr>PowerPoint Presentation</vt:lpstr>
      <vt:lpstr>Structure of the workshop</vt:lpstr>
      <vt:lpstr>Exploratory vs Explanatory Visualizations:</vt:lpstr>
      <vt:lpstr>How our brain perceives visual information</vt:lpstr>
      <vt:lpstr>Albert Cairo(2016) perceptual ranking diagram</vt:lpstr>
      <vt:lpstr>The basics</vt:lpstr>
      <vt:lpstr>Some of the best practices</vt:lpstr>
      <vt:lpstr>Example Data table (it’s ok):</vt:lpstr>
      <vt:lpstr>Default Excel chart (not terrible):</vt:lpstr>
      <vt:lpstr>Cleaned up (better)</vt:lpstr>
      <vt:lpstr>A side note about pie charts</vt:lpstr>
      <vt:lpstr>Just to illustrate….</vt:lpstr>
      <vt:lpstr>A side note about technical statistical graphs:</vt:lpstr>
      <vt:lpstr>Resources:</vt:lpstr>
      <vt:lpstr>Inspirations:</vt:lpstr>
      <vt:lpstr>Why Tableau?</vt:lpstr>
      <vt:lpstr>Free Tableau options to sharpen your skills</vt:lpstr>
      <vt:lpstr>Data structures for Tableau</vt:lpstr>
      <vt:lpstr>Software check</vt:lpstr>
      <vt:lpstr>Let’s just jump right 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Milakhina, Daria</dc:creator>
  <cp:lastModifiedBy>Howard, Emma Reece</cp:lastModifiedBy>
  <cp:revision>71</cp:revision>
  <dcterms:created xsi:type="dcterms:W3CDTF">2026-03-26T20:54:47Z</dcterms:created>
  <dcterms:modified xsi:type="dcterms:W3CDTF">2026-04-01T17:10:40Z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0x010100D842EA8C972DF0428D9BF2D3EE5B47C9</vt:lpwstr>
  </property>
  <property fmtid="{D5CDD505-2E9C-101B-9397-08002B2CF9AE}" pid="3" name="MediaServiceImageTags">
    <vt:lpwstr/>
  </property>
</Properties>
</file>