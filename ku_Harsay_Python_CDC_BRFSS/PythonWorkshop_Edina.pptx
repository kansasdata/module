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22"/>
  </p:notesMasterIdLst>
  <p:sldIdLst>
    <p:sldId id="256" r:id="rId2"/>
    <p:sldId id="259" r:id="rId3"/>
    <p:sldId id="257" r:id="rId4"/>
    <p:sldId id="263" r:id="rId5"/>
    <p:sldId id="268" r:id="rId6"/>
    <p:sldId id="272" r:id="rId7"/>
    <p:sldId id="273" r:id="rId8"/>
    <p:sldId id="269" r:id="rId9"/>
    <p:sldId id="276" r:id="rId10"/>
    <p:sldId id="274" r:id="rId11"/>
    <p:sldId id="262" r:id="rId12"/>
    <p:sldId id="277" r:id="rId13"/>
    <p:sldId id="264" r:id="rId14"/>
    <p:sldId id="265" r:id="rId15"/>
    <p:sldId id="266" r:id="rId16"/>
    <p:sldId id="267" r:id="rId17"/>
    <p:sldId id="275" r:id="rId18"/>
    <p:sldId id="280" r:id="rId19"/>
    <p:sldId id="279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D119EA-FECC-E24E-9D5F-FF382C6519C2}" v="2" dt="2026-02-19T07:21:24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5"/>
    <p:restoredTop sz="62934"/>
  </p:normalViewPr>
  <p:slideViewPr>
    <p:cSldViewPr snapToGrid="0">
      <p:cViewPr varScale="1">
        <p:scale>
          <a:sx n="34" d="100"/>
          <a:sy n="34" d="100"/>
        </p:scale>
        <p:origin x="16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A18D-16AF-C84C-8581-04EE71B720C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C43D1-6229-E942-8412-73F165C67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74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99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06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66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3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43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74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85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33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8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6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10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38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64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81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88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22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43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15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491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C43D1-6229-E942-8412-73F165C6706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43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149C-170F-7AD1-09D1-22FCBAF3A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Data Management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C8EFB-6DA2-CB1B-A444-484BE7DE7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sz="2800" dirty="0"/>
              <a:t>Edina </a:t>
            </a:r>
            <a:r>
              <a:rPr lang="en-US" sz="2800" dirty="0" err="1"/>
              <a:t>Harsay</a:t>
            </a:r>
            <a:endParaRPr lang="en-US" sz="2800" dirty="0"/>
          </a:p>
          <a:p>
            <a:r>
              <a:rPr lang="en-US" dirty="0"/>
              <a:t>February 19,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8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Python in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/>
          </a:bodyPr>
          <a:lstStyle/>
          <a:p>
            <a:r>
              <a:rPr lang="en-US" sz="2800" dirty="0"/>
              <a:t>Python is a general-purpose programming language.</a:t>
            </a:r>
          </a:p>
          <a:p>
            <a:r>
              <a:rPr lang="en-US" sz="2800" dirty="0"/>
              <a:t>Released in 1991, Python was designed to be readable and flexible, not specifically for data analysis. Its data science ecosystem (NumPy, pandas, matplotlib, scikit-learn) was built by the community starting ~10-15 years later.</a:t>
            </a:r>
          </a:p>
          <a:p>
            <a:r>
              <a:rPr lang="en-US" sz="2800" dirty="0"/>
              <a:t>This generality is Python's biggest strength, and also its biggest source of complexity. </a:t>
            </a:r>
            <a:r>
              <a:rPr lang="en-US" sz="2800" b="1" dirty="0"/>
              <a:t>You have choices.</a:t>
            </a:r>
            <a:r>
              <a:rPr lang="en-US" sz="2800" dirty="0"/>
              <a:t> That means you also have to make them.</a:t>
            </a:r>
            <a:endParaRPr lang="en-US" sz="2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60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Ways to Use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In this workshop: Google </a:t>
            </a:r>
            <a:r>
              <a:rPr lang="en-US" sz="2400" b="1" dirty="0" err="1"/>
              <a:t>Colab</a:t>
            </a:r>
            <a:endParaRPr lang="en-US" sz="2400" dirty="0"/>
          </a:p>
          <a:p>
            <a:pPr lvl="1"/>
            <a:r>
              <a:rPr lang="en-US" sz="2400" dirty="0"/>
              <a:t>Runs in your browser, no installation needed</a:t>
            </a:r>
          </a:p>
          <a:p>
            <a:pPr lvl="1"/>
            <a:r>
              <a:rPr lang="en-US" sz="2400" dirty="0"/>
              <a:t>Free GPU access for machine learning</a:t>
            </a:r>
          </a:p>
          <a:p>
            <a:pPr lvl="1"/>
            <a:r>
              <a:rPr lang="en-US" sz="2400" dirty="0"/>
              <a:t>Good for learning, sharing, and collaboration</a:t>
            </a:r>
          </a:p>
          <a:p>
            <a:pPr lvl="1"/>
            <a:r>
              <a:rPr lang="en-US" sz="2400" dirty="0"/>
              <a:t>Not ideal for large datasets or sensitive/private data</a:t>
            </a:r>
          </a:p>
          <a:p>
            <a:r>
              <a:rPr lang="en-US" sz="2400" b="1" dirty="0"/>
              <a:t>For a “real” project:  best to set up a local environment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404040"/>
                </a:solidFill>
              </a:rPr>
              <a:t>Use either </a:t>
            </a:r>
            <a:r>
              <a:rPr lang="en-US" sz="2400" dirty="0" err="1">
                <a:solidFill>
                  <a:srgbClr val="404040"/>
                </a:solidFill>
              </a:rPr>
              <a:t>venv</a:t>
            </a:r>
            <a:r>
              <a:rPr lang="en-US" sz="2400" dirty="0">
                <a:solidFill>
                  <a:srgbClr val="404040"/>
                </a:solidFill>
              </a:rPr>
              <a:t>/</a:t>
            </a:r>
            <a:r>
              <a:rPr lang="en-US" sz="2400" dirty="0" err="1">
                <a:solidFill>
                  <a:srgbClr val="404040"/>
                </a:solidFill>
              </a:rPr>
              <a:t>virtualenv</a:t>
            </a:r>
            <a:r>
              <a:rPr lang="en-US" sz="2400" dirty="0">
                <a:solidFill>
                  <a:srgbClr val="404040"/>
                </a:solidFill>
              </a:rPr>
              <a:t> or </a:t>
            </a:r>
            <a:r>
              <a:rPr lang="en-US" sz="2400" dirty="0" err="1">
                <a:solidFill>
                  <a:srgbClr val="404040"/>
                </a:solidFill>
              </a:rPr>
              <a:t>conda</a:t>
            </a:r>
            <a:endParaRPr lang="en-US" sz="2400" dirty="0">
              <a:solidFill>
                <a:srgbClr val="404040"/>
              </a:solidFill>
            </a:endParaRPr>
          </a:p>
          <a:p>
            <a:pPr lvl="1"/>
            <a:r>
              <a:rPr lang="en-US" sz="2400" dirty="0">
                <a:solidFill>
                  <a:srgbClr val="404040"/>
                </a:solidFill>
              </a:rPr>
              <a:t>Use a Unix-like setup: macOS, Linux, or WSL (Windows)</a:t>
            </a:r>
          </a:p>
        </p:txBody>
      </p:sp>
    </p:spTree>
    <p:extLst>
      <p:ext uri="{BB962C8B-B14F-4D97-AF65-F5344CB8AC3E}">
        <p14:creationId xmlns:p14="http://schemas.microsoft.com/office/powerpoint/2010/main" val="27765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0" y="1946007"/>
            <a:ext cx="7528560" cy="3337146"/>
          </a:xfrm>
        </p:spPr>
        <p:txBody>
          <a:bodyPr>
            <a:normAutofit/>
          </a:bodyPr>
          <a:lstStyle/>
          <a:p>
            <a:r>
              <a:rPr lang="en-US" sz="2400" b="1" dirty="0"/>
              <a:t>The core idea</a:t>
            </a:r>
            <a:endParaRPr lang="en-US" sz="2400" dirty="0"/>
          </a:p>
          <a:p>
            <a:pPr lvl="1"/>
            <a:r>
              <a:rPr lang="en-US" sz="2400" dirty="0"/>
              <a:t>Each project gets its own isolated environment with pinned package versions. </a:t>
            </a:r>
          </a:p>
          <a:p>
            <a:pPr lvl="1"/>
            <a:r>
              <a:rPr lang="en-US" sz="2400" dirty="0"/>
              <a:t>Very easy to rebuild an identical package environment.</a:t>
            </a:r>
          </a:p>
          <a:p>
            <a:r>
              <a:rPr lang="en-US" sz="2400" b="1" dirty="0"/>
              <a:t>Benefits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404040"/>
                </a:solidFill>
              </a:rPr>
              <a:t>Reproducibility</a:t>
            </a:r>
          </a:p>
          <a:p>
            <a:pPr lvl="1"/>
            <a:r>
              <a:rPr lang="en-US" sz="2400" dirty="0">
                <a:solidFill>
                  <a:srgbClr val="404040"/>
                </a:solidFill>
              </a:rPr>
              <a:t>Avoid dependency conflicts</a:t>
            </a:r>
          </a:p>
        </p:txBody>
      </p:sp>
    </p:spTree>
    <p:extLst>
      <p:ext uri="{BB962C8B-B14F-4D97-AF65-F5344CB8AC3E}">
        <p14:creationId xmlns:p14="http://schemas.microsoft.com/office/powerpoint/2010/main" val="357539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Environments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1A042CB0-51D5-697F-B795-C0A25B1A9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65088" y="1759524"/>
            <a:ext cx="8461823" cy="3664569"/>
          </a:xfrm>
        </p:spPr>
      </p:pic>
    </p:spTree>
    <p:extLst>
      <p:ext uri="{BB962C8B-B14F-4D97-AF65-F5344CB8AC3E}">
        <p14:creationId xmlns:p14="http://schemas.microsoft.com/office/powerpoint/2010/main" val="102052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60C344-B70C-4892-A50B-18A14E39E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CA6F-E2A3-48F3-AD20-D80C44380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7" y="0"/>
            <a:ext cx="6676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820" y="-106679"/>
            <a:ext cx="5437703" cy="1052800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Virtualenv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FFFFFF"/>
                </a:solidFill>
              </a:rPr>
              <a:t>Venv</a:t>
            </a:r>
            <a:r>
              <a:rPr lang="en-US" dirty="0">
                <a:solidFill>
                  <a:srgbClr val="FFFFFF"/>
                </a:solidFill>
              </a:rPr>
              <a:t>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820" y="2170772"/>
            <a:ext cx="5437697" cy="3569256"/>
          </a:xfrm>
        </p:spPr>
        <p:txBody>
          <a:bodyPr>
            <a:normAutofit/>
          </a:bodyPr>
          <a:lstStyle/>
          <a:p>
            <a:endParaRPr lang="en-US" b="1">
              <a:solidFill>
                <a:srgbClr val="FFFFFF"/>
              </a:solidFill>
            </a:endParaRPr>
          </a:p>
          <a:p>
            <a:endParaRPr lang="en-US" b="1">
              <a:solidFill>
                <a:srgbClr val="FFFFFF"/>
              </a:solidFill>
            </a:endParaRPr>
          </a:p>
          <a:p>
            <a:endParaRPr lang="en-US" b="1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b="1">
              <a:solidFill>
                <a:srgbClr val="FFFFFF"/>
              </a:solidFill>
            </a:endParaRP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171BC787-8A8C-B09D-AFD4-D8D35D6F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193" y="789980"/>
            <a:ext cx="7278370" cy="428602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D615731-C6FB-0711-7262-42DD26FE2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193" y="5080593"/>
            <a:ext cx="7278370" cy="17774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10C5E8-683A-32A9-65FF-75AAD4D8C962}"/>
              </a:ext>
            </a:extLst>
          </p:cNvPr>
          <p:cNvSpPr txBox="1"/>
          <p:nvPr/>
        </p:nvSpPr>
        <p:spPr>
          <a:xfrm>
            <a:off x="8749208" y="2377440"/>
            <a:ext cx="31570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first have to install </a:t>
            </a:r>
            <a:r>
              <a:rPr lang="en-US" dirty="0" err="1"/>
              <a:t>pyenv</a:t>
            </a:r>
            <a:r>
              <a:rPr lang="en-US" dirty="0"/>
              <a:t>.</a:t>
            </a:r>
          </a:p>
          <a:p>
            <a:r>
              <a:rPr lang="en-US" dirty="0"/>
              <a:t>On macOS, use the Homebrew package manager in your Terminal app.</a:t>
            </a:r>
          </a:p>
          <a:p>
            <a:r>
              <a:rPr lang="en-US" dirty="0"/>
              <a:t>On Windows (WSL) or Linux (Debian/Ubuntu) use `apt`.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share your </a:t>
            </a:r>
            <a:r>
              <a:rPr lang="en-US" dirty="0" err="1"/>
              <a:t>requirements.txt</a:t>
            </a:r>
            <a:r>
              <a:rPr lang="en-US" dirty="0"/>
              <a:t> file along with your code.  Run:</a:t>
            </a:r>
          </a:p>
          <a:p>
            <a:r>
              <a:rPr lang="en-US" dirty="0"/>
              <a:t>pip install –r </a:t>
            </a:r>
            <a:r>
              <a:rPr lang="en-US" dirty="0" err="1"/>
              <a:t>requirements.txt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is similar to </a:t>
            </a:r>
            <a:r>
              <a:rPr lang="en-US" dirty="0" err="1"/>
              <a:t>renv.lock</a:t>
            </a:r>
            <a:r>
              <a:rPr lang="en-US" dirty="0"/>
              <a:t> file in R.</a:t>
            </a:r>
          </a:p>
        </p:txBody>
      </p:sp>
    </p:spTree>
    <p:extLst>
      <p:ext uri="{BB962C8B-B14F-4D97-AF65-F5344CB8AC3E}">
        <p14:creationId xmlns:p14="http://schemas.microsoft.com/office/powerpoint/2010/main" val="2462072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60C344-B70C-4892-A50B-18A14E39E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CA6F-E2A3-48F3-AD20-D80C44380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7" y="0"/>
            <a:ext cx="6676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820" y="110066"/>
            <a:ext cx="5437703" cy="1152127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Virtualenv</a:t>
            </a:r>
            <a:r>
              <a:rPr lang="en-US" dirty="0">
                <a:solidFill>
                  <a:srgbClr val="FFFFFF"/>
                </a:solidFill>
              </a:rPr>
              <a:t>/env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820" y="2170772"/>
            <a:ext cx="5437697" cy="3569256"/>
          </a:xfrm>
        </p:spPr>
        <p:txBody>
          <a:bodyPr>
            <a:normAutofit/>
          </a:bodyPr>
          <a:lstStyle/>
          <a:p>
            <a:endParaRPr lang="en-US" b="1" dirty="0">
              <a:solidFill>
                <a:srgbClr val="FFFFFF"/>
              </a:solidFill>
            </a:endParaRPr>
          </a:p>
          <a:p>
            <a:endParaRPr lang="en-US" b="1" dirty="0">
              <a:solidFill>
                <a:srgbClr val="FFFFFF"/>
              </a:solidFill>
            </a:endParaRPr>
          </a:p>
          <a:p>
            <a:endParaRPr lang="en-US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731EB-1914-AFFA-0D5C-8F0B63579862}"/>
              </a:ext>
            </a:extLst>
          </p:cNvPr>
          <p:cNvSpPr txBox="1"/>
          <p:nvPr/>
        </p:nvSpPr>
        <p:spPr>
          <a:xfrm>
            <a:off x="1743668" y="18014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 err="1"/>
              <a:t>Colab</a:t>
            </a:r>
            <a:r>
              <a:rPr lang="en-US" sz="2400" b="1" dirty="0"/>
              <a:t> equivalent</a:t>
            </a:r>
            <a:endParaRPr lang="en-US" sz="2400" dirty="0"/>
          </a:p>
        </p:txBody>
      </p:sp>
      <p:pic>
        <p:nvPicPr>
          <p:cNvPr id="6" name="Picture 5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DA98586-2A8A-009D-E01F-11A3A7321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904" y="2937355"/>
            <a:ext cx="8959276" cy="129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57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Tips for </a:t>
            </a:r>
            <a:r>
              <a:rPr lang="en-US" dirty="0" err="1"/>
              <a:t>Conda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15854"/>
            <a:ext cx="9281160" cy="3809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The parallel with pip: both fetch Python modules from repos</a:t>
            </a:r>
            <a:endParaRPr lang="en-US" sz="2400" dirty="0"/>
          </a:p>
          <a:p>
            <a:pPr lvl="1"/>
            <a:r>
              <a:rPr lang="en-US" sz="2400" dirty="0"/>
              <a:t>pip fetches from </a:t>
            </a:r>
            <a:r>
              <a:rPr lang="en-US" sz="2400" dirty="0" err="1"/>
              <a:t>PyPI</a:t>
            </a:r>
            <a:r>
              <a:rPr lang="en-US" sz="2400" dirty="0"/>
              <a:t> (</a:t>
            </a:r>
            <a:r>
              <a:rPr lang="en-US" sz="2400" dirty="0" err="1"/>
              <a:t>pypi.org</a:t>
            </a:r>
            <a:r>
              <a:rPr lang="en-US" sz="2400" dirty="0"/>
              <a:t>) (does not manage environment)</a:t>
            </a:r>
          </a:p>
          <a:p>
            <a:pPr lvl="1"/>
            <a:r>
              <a:rPr lang="en-US" sz="2400" dirty="0" err="1"/>
              <a:t>conda</a:t>
            </a:r>
            <a:r>
              <a:rPr lang="en-US" sz="2400" dirty="0"/>
              <a:t> fetches from channels, most importantly </a:t>
            </a:r>
            <a:r>
              <a:rPr lang="en-US" sz="2400" dirty="0" err="1"/>
              <a:t>conda</a:t>
            </a:r>
            <a:r>
              <a:rPr lang="en-US" sz="2400" dirty="0"/>
              <a:t>-forge	</a:t>
            </a:r>
          </a:p>
        </p:txBody>
      </p:sp>
      <p:pic>
        <p:nvPicPr>
          <p:cNvPr id="5" name="Picture 4" descr="A screenshot of a video&#10;&#10;Description automatically generated">
            <a:extLst>
              <a:ext uri="{FF2B5EF4-FFF2-40B4-BE49-F238E27FC236}">
                <a16:creationId xmlns:a16="http://schemas.microsoft.com/office/drawing/2014/main" id="{951A892A-2BFE-5442-697C-A0E87BF7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490" y="3192936"/>
            <a:ext cx="8261908" cy="234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1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Tips for </a:t>
            </a:r>
            <a:r>
              <a:rPr lang="en-US" dirty="0" err="1"/>
              <a:t>Conda</a:t>
            </a:r>
            <a:endParaRPr lang="en-US" dirty="0"/>
          </a:p>
        </p:txBody>
      </p:sp>
      <p:pic>
        <p:nvPicPr>
          <p:cNvPr id="7" name="Content Placeholder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8A4D9EEE-B7E8-0887-A513-39593A110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4638" y="1759524"/>
            <a:ext cx="8770372" cy="2643592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389452-D546-A11E-3A0D-848F1780A616}"/>
              </a:ext>
            </a:extLst>
          </p:cNvPr>
          <p:cNvSpPr txBox="1"/>
          <p:nvPr/>
        </p:nvSpPr>
        <p:spPr>
          <a:xfrm>
            <a:off x="2072640" y="4590568"/>
            <a:ext cx="8242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Avoid Anaconda (~3 GB, management issue, licensing issue).</a:t>
            </a:r>
          </a:p>
          <a:p>
            <a:r>
              <a:rPr lang="en-US" sz="2400" dirty="0"/>
              <a:t>Avoid </a:t>
            </a:r>
            <a:r>
              <a:rPr lang="en-US" sz="2400" dirty="0" err="1"/>
              <a:t>Miniconda</a:t>
            </a:r>
            <a:r>
              <a:rPr lang="en-US" sz="2400" dirty="0"/>
              <a:t> (licensing issue). Install </a:t>
            </a:r>
            <a:r>
              <a:rPr lang="en-US" sz="2400" dirty="0" err="1"/>
              <a:t>Miniforge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74265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60C344-B70C-4892-A50B-18A14E39E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3CA6F-E2A3-48F3-AD20-D80C44380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7" y="0"/>
            <a:ext cx="6676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820" y="110066"/>
            <a:ext cx="5437703" cy="1152127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Conda</a:t>
            </a:r>
            <a:r>
              <a:rPr lang="en-US" dirty="0">
                <a:solidFill>
                  <a:srgbClr val="FFFFFF"/>
                </a:solidFill>
              </a:rPr>
              <a:t>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820" y="2170772"/>
            <a:ext cx="5437697" cy="3569256"/>
          </a:xfrm>
        </p:spPr>
        <p:txBody>
          <a:bodyPr>
            <a:normAutofit/>
          </a:bodyPr>
          <a:lstStyle/>
          <a:p>
            <a:endParaRPr lang="en-US" b="1">
              <a:solidFill>
                <a:srgbClr val="FFFFFF"/>
              </a:solidFill>
            </a:endParaRPr>
          </a:p>
          <a:p>
            <a:endParaRPr lang="en-US" b="1">
              <a:solidFill>
                <a:srgbClr val="FFFFFF"/>
              </a:solidFill>
            </a:endParaRPr>
          </a:p>
          <a:p>
            <a:endParaRPr lang="en-US" b="1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b="1">
              <a:solidFill>
                <a:srgbClr val="FFFFFF"/>
              </a:solidFill>
            </a:endParaRPr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8CDA45B-7C28-05AF-31D3-44A384D07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1586230"/>
            <a:ext cx="7772400" cy="338552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BA5C9F0-FF6E-3103-0851-3A6BB9EBA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08" y="4971753"/>
            <a:ext cx="7772400" cy="14686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C502E0-4CC5-1C4E-D342-E85221C065F1}"/>
              </a:ext>
            </a:extLst>
          </p:cNvPr>
          <p:cNvSpPr txBox="1"/>
          <p:nvPr/>
        </p:nvSpPr>
        <p:spPr>
          <a:xfrm>
            <a:off x="8945880" y="3063240"/>
            <a:ext cx="29260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also turn a </a:t>
            </a:r>
            <a:r>
              <a:rPr lang="en-US" dirty="0" err="1"/>
              <a:t>Miniconda</a:t>
            </a:r>
            <a:r>
              <a:rPr lang="en-US" dirty="0"/>
              <a:t> install into a </a:t>
            </a:r>
            <a:r>
              <a:rPr lang="en-US" dirty="0" err="1"/>
              <a:t>Miniforge</a:t>
            </a:r>
            <a:r>
              <a:rPr lang="en-US" dirty="0"/>
              <a:t> install simply by changing the default channel to mini-forge and adding </a:t>
            </a:r>
            <a:r>
              <a:rPr lang="en-US" dirty="0" err="1"/>
              <a:t>nodefaults</a:t>
            </a:r>
            <a:r>
              <a:rPr lang="en-US" dirty="0"/>
              <a:t> to your .</a:t>
            </a:r>
            <a:r>
              <a:rPr lang="en-US" dirty="0" err="1"/>
              <a:t>condarc</a:t>
            </a:r>
            <a:r>
              <a:rPr lang="en-US" dirty="0"/>
              <a:t> file.</a:t>
            </a:r>
          </a:p>
          <a:p>
            <a:endParaRPr lang="en-US" dirty="0"/>
          </a:p>
          <a:p>
            <a:r>
              <a:rPr lang="en-US" dirty="0"/>
              <a:t>The two are functionally identical, other than default channel.</a:t>
            </a:r>
          </a:p>
        </p:txBody>
      </p:sp>
    </p:spTree>
    <p:extLst>
      <p:ext uri="{BB962C8B-B14F-4D97-AF65-F5344CB8AC3E}">
        <p14:creationId xmlns:p14="http://schemas.microsoft.com/office/powerpoint/2010/main" val="1409058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Tip to keep in mind for </a:t>
            </a:r>
            <a:r>
              <a:rPr lang="en-US" dirty="0" err="1"/>
              <a:t>Conda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Install everything you can via </a:t>
            </a:r>
            <a:r>
              <a:rPr lang="en-US" sz="2400" dirty="0" err="1"/>
              <a:t>conda</a:t>
            </a:r>
            <a:r>
              <a:rPr lang="en-US" sz="2400" dirty="0"/>
              <a:t> first..</a:t>
            </a:r>
          </a:p>
          <a:p>
            <a:pPr lvl="1"/>
            <a:r>
              <a:rPr lang="en-US" sz="2400" dirty="0"/>
              <a:t>If a package only exists on </a:t>
            </a:r>
            <a:r>
              <a:rPr lang="en-US" sz="2400" dirty="0" err="1"/>
              <a:t>PyPI</a:t>
            </a:r>
            <a:r>
              <a:rPr lang="en-US" sz="2400" dirty="0"/>
              <a:t>, install it with pip after your </a:t>
            </a:r>
            <a:r>
              <a:rPr lang="en-US" sz="2400" dirty="0" err="1"/>
              <a:t>conda</a:t>
            </a:r>
            <a:r>
              <a:rPr lang="en-US" sz="2400" dirty="0"/>
              <a:t> installs are done.</a:t>
            </a:r>
          </a:p>
          <a:p>
            <a:pPr lvl="1"/>
            <a:r>
              <a:rPr lang="en-US" sz="2400" dirty="0"/>
              <a:t>Never go back and `</a:t>
            </a:r>
            <a:r>
              <a:rPr lang="en-US" sz="2400" dirty="0" err="1"/>
              <a:t>conda</a:t>
            </a:r>
            <a:r>
              <a:rPr lang="en-US" sz="2400" dirty="0"/>
              <a:t> install` something after you have used pip in the same environment. This is where the dependency solver gets confused because </a:t>
            </a:r>
            <a:r>
              <a:rPr lang="en-US" sz="2400" dirty="0" err="1"/>
              <a:t>conda</a:t>
            </a:r>
            <a:r>
              <a:rPr lang="en-US" sz="2400" dirty="0"/>
              <a:t> cannot see or reason about what pip has done, so it may overwrite or break pip-installed packages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966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Mac, Linux, WSL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Why? Unless you are developing Windows software, a Unix-like setup makes your life easier.</a:t>
            </a:r>
            <a:endParaRPr lang="en-US" sz="2400" dirty="0"/>
          </a:p>
          <a:p>
            <a:pPr lvl="1"/>
            <a:r>
              <a:rPr lang="en-US" sz="2400" dirty="0"/>
              <a:t>Most data science tooling assumes a Unix-like environment.</a:t>
            </a:r>
          </a:p>
          <a:p>
            <a:pPr lvl="1"/>
            <a:r>
              <a:rPr lang="en-US" sz="2400" dirty="0" err="1"/>
              <a:t>Conda</a:t>
            </a:r>
            <a:r>
              <a:rPr lang="en-US" sz="2400" dirty="0"/>
              <a:t> is fine on native Windows for a pure data science workflow (pandas, </a:t>
            </a:r>
            <a:r>
              <a:rPr lang="en-US" sz="2400" dirty="0" err="1"/>
              <a:t>numpy</a:t>
            </a:r>
            <a:r>
              <a:rPr lang="en-US" sz="2400" dirty="0"/>
              <a:t>, scikit-learn, matplotlib). But…</a:t>
            </a:r>
          </a:p>
          <a:p>
            <a:pPr lvl="1"/>
            <a:r>
              <a:rPr lang="en-US" sz="2400" dirty="0"/>
              <a:t>On Linux or WSL (or Mac), you have compilers and C libraries available, so pip can build packages from source when needed. </a:t>
            </a:r>
          </a:p>
          <a:p>
            <a:pPr lvl="1"/>
            <a:r>
              <a:rPr lang="en-US" sz="2400" dirty="0"/>
              <a:t>WSL is not strictly necessary in Windows, but it is a genuinely better setup for a career in data science or software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1917811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Code Editors (Near-IDE)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sz="2400" dirty="0"/>
              <a:t>IDE = Integrated Development Environment. Traditionally includes compilers/</a:t>
            </a:r>
            <a:r>
              <a:rPr lang="en-US" sz="2400" dirty="0" err="1"/>
              <a:t>interpretes</a:t>
            </a:r>
            <a:r>
              <a:rPr lang="en-US" sz="2400" dirty="0"/>
              <a:t>, debuggers, build systems, etc.</a:t>
            </a:r>
          </a:p>
          <a:p>
            <a:pPr lvl="1"/>
            <a:r>
              <a:rPr lang="en-US" sz="2400" dirty="0"/>
              <a:t>XCode, Visual Studio, PyCharm, RStudio, etc. are traditional IDEs. </a:t>
            </a:r>
          </a:p>
          <a:p>
            <a:pPr lvl="1"/>
            <a:r>
              <a:rPr lang="en-US" sz="2400" dirty="0"/>
              <a:t>Text editors these days are sufficient for most coding work. Many are near-IDE after you add extensions. The distinction is largely obsolete.</a:t>
            </a:r>
          </a:p>
          <a:p>
            <a:pPr lvl="1"/>
            <a:r>
              <a:rPr lang="en-US" sz="2400" dirty="0"/>
              <a:t>The label matters less than understanding what the tool provides and what it delegates to external tools, because that determines what you need to install alongside it. </a:t>
            </a:r>
          </a:p>
          <a:p>
            <a:pPr lvl="1"/>
            <a:r>
              <a:rPr lang="en-US" sz="2400" dirty="0"/>
              <a:t>VS Code is a popular text editor that can work with </a:t>
            </a:r>
            <a:r>
              <a:rPr lang="en-US" sz="2400" dirty="0" err="1"/>
              <a:t>Jupyter</a:t>
            </a:r>
            <a:r>
              <a:rPr lang="en-US" sz="2400" dirty="0"/>
              <a:t> Notebook files (with appropriate extensions added).</a:t>
            </a:r>
          </a:p>
          <a:p>
            <a:pPr lvl="1"/>
            <a:r>
              <a:rPr lang="en-US" sz="2400" dirty="0"/>
              <a:t>Even better: Positron =  VS Code + RStudio (kind of)</a:t>
            </a:r>
          </a:p>
        </p:txBody>
      </p:sp>
    </p:spTree>
    <p:extLst>
      <p:ext uri="{BB962C8B-B14F-4D97-AF65-F5344CB8AC3E}">
        <p14:creationId xmlns:p14="http://schemas.microsoft.com/office/powerpoint/2010/main" val="299323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Positron for Python and R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3CAD1D09-1B0A-A66F-B9B1-3E86BA387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544" y="1552453"/>
            <a:ext cx="7289958" cy="408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Recommended Resource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6360" y="1474122"/>
            <a:ext cx="5257800" cy="39726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400" dirty="0"/>
              <a:t>Author is first Pandas developer</a:t>
            </a:r>
          </a:p>
          <a:p>
            <a:pPr lvl="1"/>
            <a:r>
              <a:rPr lang="en-US" sz="2400" dirty="0"/>
              <a:t>3</a:t>
            </a:r>
            <a:r>
              <a:rPr lang="en-US" sz="2400" baseline="30000" dirty="0"/>
              <a:t>rd</a:t>
            </a:r>
            <a:r>
              <a:rPr lang="en-US" sz="2400" dirty="0"/>
              <a:t> edition is available for free</a:t>
            </a:r>
          </a:p>
          <a:p>
            <a:pPr lvl="1"/>
            <a:r>
              <a:rPr lang="en-US" sz="2400" dirty="0"/>
              <a:t>Brief overview/review of Python</a:t>
            </a:r>
          </a:p>
          <a:p>
            <a:pPr lvl="1"/>
            <a:r>
              <a:rPr lang="en-US" sz="2400" dirty="0"/>
              <a:t>Things move fast. It is 2022 ed. But look for updates. </a:t>
            </a:r>
          </a:p>
          <a:p>
            <a:pPr lvl="1"/>
            <a:r>
              <a:rPr lang="en-US" sz="2400" dirty="0"/>
              <a:t>Introduces key packages for data science in Python</a:t>
            </a:r>
          </a:p>
          <a:p>
            <a:pPr lvl="1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21BB0F-3ABB-DE87-7F5C-9FF25717311E}"/>
              </a:ext>
            </a:extLst>
          </p:cNvPr>
          <p:cNvSpPr txBox="1"/>
          <p:nvPr/>
        </p:nvSpPr>
        <p:spPr>
          <a:xfrm>
            <a:off x="2078736" y="5171170"/>
            <a:ext cx="3235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wesmckinney.com</a:t>
            </a:r>
            <a:r>
              <a:rPr lang="en-US" dirty="0"/>
              <a:t>/book/</a:t>
            </a:r>
          </a:p>
        </p:txBody>
      </p:sp>
      <p:pic>
        <p:nvPicPr>
          <p:cNvPr id="5" name="Content Placeholder 4" descr="A book cover with a rodent&#10;&#10;Description automatically generated">
            <a:extLst>
              <a:ext uri="{FF2B5EF4-FFF2-40B4-BE49-F238E27FC236}">
                <a16:creationId xmlns:a16="http://schemas.microsoft.com/office/drawing/2014/main" id="{3AB9E91A-9461-4614-62DB-E9C3D203F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479" y="1675734"/>
            <a:ext cx="3076546" cy="380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81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Some key Python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/>
              <a:t>Numpy</a:t>
            </a:r>
            <a:r>
              <a:rPr lang="en-US" sz="2400" b="1" dirty="0"/>
              <a:t> </a:t>
            </a:r>
            <a:r>
              <a:rPr lang="en-US" sz="2400" dirty="0"/>
              <a:t>(Numerical Python) provides the data structures, algorithms, and library glue needed for most scientific applications involving numerical data in Python. </a:t>
            </a:r>
          </a:p>
          <a:p>
            <a:r>
              <a:rPr lang="en-US" sz="2400" b="1" dirty="0"/>
              <a:t>pandas</a:t>
            </a:r>
            <a:r>
              <a:rPr lang="en-US" sz="2400" dirty="0"/>
              <a:t> provides high-level data structures and functions for working with structured or tabular data (wrangling). </a:t>
            </a:r>
          </a:p>
          <a:p>
            <a:r>
              <a:rPr lang="en-US" sz="2400" b="1" dirty="0"/>
              <a:t>Polars</a:t>
            </a:r>
            <a:r>
              <a:rPr lang="en-US" sz="2400" dirty="0"/>
              <a:t> is a new alternative to Pandas.</a:t>
            </a:r>
          </a:p>
          <a:p>
            <a:r>
              <a:rPr lang="en-US" sz="2400" b="1" dirty="0"/>
              <a:t>matplotlib</a:t>
            </a:r>
            <a:r>
              <a:rPr lang="en-US" sz="2400" dirty="0"/>
              <a:t> is the most popular Python library for producing plots and other two-dimensional data visualizations. </a:t>
            </a:r>
          </a:p>
          <a:p>
            <a:r>
              <a:rPr lang="en-US" sz="2400" b="1" dirty="0"/>
              <a:t>Others</a:t>
            </a:r>
            <a:r>
              <a:rPr lang="en-US" sz="2400" dirty="0"/>
              <a:t>: SciPy, Scikit-learn, </a:t>
            </a:r>
            <a:r>
              <a:rPr lang="en-US" sz="2400" dirty="0" err="1"/>
              <a:t>statsmodels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779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Polars or Pandas (syntax)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547271"/>
            <a:ext cx="9281160" cy="3809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Follows the style of SQL, </a:t>
            </a:r>
            <a:r>
              <a:rPr lang="en-US" sz="2400" b="1" dirty="0" err="1"/>
              <a:t>dplyr</a:t>
            </a:r>
            <a:r>
              <a:rPr lang="en-US" sz="2400" b="1" dirty="0"/>
              <a:t>, </a:t>
            </a:r>
            <a:r>
              <a:rPr lang="en-US" sz="2400" b="1" dirty="0" err="1"/>
              <a:t>datascience</a:t>
            </a:r>
            <a:r>
              <a:rPr lang="en-US" sz="2400" b="1" dirty="0"/>
              <a:t> (Berkeley Data 8)</a:t>
            </a:r>
            <a:endParaRPr lang="en-US" sz="2400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77C0F59-D25A-8171-4462-CFFE51446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240" y="2044670"/>
            <a:ext cx="7633819" cy="357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09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Polars Syntax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C374E0-D88A-5FCA-A1B7-DD7E3CCE9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Readability: </a:t>
            </a:r>
            <a:r>
              <a:rPr lang="en-US" sz="2400" dirty="0"/>
              <a:t>reads like a sentence, consistent style, verb-based approach (inspired by SQL, </a:t>
            </a:r>
            <a:r>
              <a:rPr lang="en-US" sz="2400" dirty="0" err="1"/>
              <a:t>dplyr</a:t>
            </a:r>
            <a:r>
              <a:rPr lang="en-US" sz="2400" dirty="0"/>
              <a:t>)</a:t>
            </a:r>
          </a:p>
          <a:p>
            <a:r>
              <a:rPr lang="en-US" sz="2400" b="1" dirty="0"/>
              <a:t>The “One Way” rule: </a:t>
            </a:r>
            <a:r>
              <a:rPr lang="en-US" sz="2400" dirty="0"/>
              <a:t>encourages one clear, consistent way using expressions</a:t>
            </a:r>
          </a:p>
          <a:p>
            <a:r>
              <a:rPr lang="en-US" sz="2400" b="1" dirty="0"/>
              <a:t>No "Index" Headaches:  </a:t>
            </a:r>
            <a:r>
              <a:rPr lang="en-US" sz="2400" dirty="0"/>
              <a:t>no row labels; similar to SQL, </a:t>
            </a:r>
            <a:r>
              <a:rPr lang="en-US" sz="2400" dirty="0" err="1"/>
              <a:t>dpyr</a:t>
            </a:r>
            <a:r>
              <a:rPr lang="en-US" sz="2400" dirty="0"/>
              <a:t>, etc. Rows are identified by their natural order.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67003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Polars or Pandas (performance)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The context: </a:t>
            </a:r>
            <a:r>
              <a:rPr lang="en-US" sz="2400" dirty="0"/>
              <a:t>Pandas creation began in 2008 (intro 2010) when datasets were smaller and single-core CPUs were the norm. Polars was introduced in 2021, in the era of multicore processors and much bigger data sets.</a:t>
            </a:r>
          </a:p>
          <a:p>
            <a:r>
              <a:rPr lang="en-US" sz="2400" b="1" dirty="0"/>
              <a:t>The Rust Advantage: </a:t>
            </a:r>
            <a:r>
              <a:rPr lang="en-US" sz="2400" dirty="0"/>
              <a:t>Polars is written in Rust. This means it’s not just "faster"; it’s inherently safer with memory and can do things in parallel (using all cores) without you writing any extra code. Pandas is built on Python and NumPy (C extensions).</a:t>
            </a:r>
          </a:p>
          <a:p>
            <a:r>
              <a:rPr lang="en-US" sz="2400" b="1" dirty="0"/>
              <a:t>Lazy evaluation: </a:t>
            </a:r>
            <a:r>
              <a:rPr lang="en-US" sz="2400" dirty="0"/>
              <a:t>Polars can optimize the query before running it.  Pandas can do only “eager evaluation” (runs immediately).</a:t>
            </a:r>
          </a:p>
          <a:p>
            <a:r>
              <a:rPr lang="en-US" sz="2400" b="1" dirty="0"/>
              <a:t>Memory efficient: </a:t>
            </a:r>
            <a:r>
              <a:rPr lang="en-US" sz="2400" dirty="0"/>
              <a:t>Polars consumes less RAM than Pandas for the same</a:t>
            </a:r>
            <a:r>
              <a:rPr lang="en-US" sz="2400" dirty="0">
                <a:solidFill>
                  <a:srgbClr val="404040"/>
                </a:solidFill>
              </a:rPr>
              <a:t> datasets and operations.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2134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366BC-A586-4409-3669-0B5EB546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5402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Workshop with BRFSS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79F9-C383-D438-EBE4-2F4E15CF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280" y="1661574"/>
            <a:ext cx="9281160" cy="38095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b="1" dirty="0"/>
          </a:p>
          <a:p>
            <a:pPr marL="0" indent="0" algn="ctr">
              <a:buNone/>
            </a:pPr>
            <a:endParaRPr lang="en-US" sz="3200" b="1" dirty="0"/>
          </a:p>
          <a:p>
            <a:pPr marL="0" indent="0" algn="ctr">
              <a:buNone/>
            </a:pPr>
            <a:r>
              <a:rPr lang="en-US" sz="3200" b="1" dirty="0"/>
              <a:t>On to </a:t>
            </a:r>
            <a:r>
              <a:rPr lang="en-US" sz="3200" b="1" dirty="0" err="1"/>
              <a:t>Colab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0FA51-D7DE-0544-FAE7-C48B4B02AFA4}"/>
              </a:ext>
            </a:extLst>
          </p:cNvPr>
          <p:cNvSpPr txBox="1"/>
          <p:nvPr/>
        </p:nvSpPr>
        <p:spPr>
          <a:xfrm>
            <a:off x="1732178" y="4016828"/>
            <a:ext cx="8909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Mostly wrangling today.  Why? </a:t>
            </a:r>
          </a:p>
          <a:p>
            <a:pPr algn="ctr"/>
            <a:r>
              <a:rPr lang="en-US" sz="2800" dirty="0"/>
              <a:t>R's survey analysis ecosystem is more mature than Python's</a:t>
            </a:r>
            <a:r>
              <a:rPr lang="en-US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90709-3CA4-B9C6-1545-B830C934A864}"/>
              </a:ext>
            </a:extLst>
          </p:cNvPr>
          <p:cNvSpPr txBox="1"/>
          <p:nvPr/>
        </p:nvSpPr>
        <p:spPr>
          <a:xfrm>
            <a:off x="2778907" y="1887540"/>
            <a:ext cx="66799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Behavioral Risk Factor Surveillance System (BRFSS), </a:t>
            </a:r>
          </a:p>
          <a:p>
            <a:pPr algn="ctr"/>
            <a:r>
              <a:rPr lang="en-US" sz="2400" dirty="0"/>
              <a:t>a CDC-administered health survey </a:t>
            </a:r>
          </a:p>
        </p:txBody>
      </p:sp>
    </p:spTree>
    <p:extLst>
      <p:ext uri="{BB962C8B-B14F-4D97-AF65-F5344CB8AC3E}">
        <p14:creationId xmlns:p14="http://schemas.microsoft.com/office/powerpoint/2010/main" val="409119733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148CC1-FECF-5843-A1AE-26D872335892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1384</TotalTime>
  <Words>1101</Words>
  <Application>Microsoft Office PowerPoint</Application>
  <PresentationFormat>Widescreen</PresentationFormat>
  <Paragraphs>127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Gill Sans MT</vt:lpstr>
      <vt:lpstr>Parcel</vt:lpstr>
      <vt:lpstr>Python Data Management Workshop</vt:lpstr>
      <vt:lpstr>Python in Data Science</vt:lpstr>
      <vt:lpstr>Ways to Use Python</vt:lpstr>
      <vt:lpstr>Environments</vt:lpstr>
      <vt:lpstr>Environments</vt:lpstr>
      <vt:lpstr>Virtualenv/Venv Steps</vt:lpstr>
      <vt:lpstr>Virtualenv/env</vt:lpstr>
      <vt:lpstr>Tips for Conda</vt:lpstr>
      <vt:lpstr>Tips for Conda</vt:lpstr>
      <vt:lpstr>Conda Steps</vt:lpstr>
      <vt:lpstr>Tip to keep in mind for Conda</vt:lpstr>
      <vt:lpstr>Mac, Linux, WSL</vt:lpstr>
      <vt:lpstr>Code Editors (Near-IDE)</vt:lpstr>
      <vt:lpstr>Positron for Python and R</vt:lpstr>
      <vt:lpstr>Recommended Resource</vt:lpstr>
      <vt:lpstr>Some key Python Packages</vt:lpstr>
      <vt:lpstr>Polars or Pandas (syntax)</vt:lpstr>
      <vt:lpstr>Polars Syntax</vt:lpstr>
      <vt:lpstr>Polars or Pandas (performance)</vt:lpstr>
      <vt:lpstr>Workshop with BRFSS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Management Workshop</dc:title>
  <dc:creator>Harsay, Edina</dc:creator>
  <cp:lastModifiedBy>Harsay, Edina</cp:lastModifiedBy>
  <cp:revision>5</cp:revision>
  <dcterms:created xsi:type="dcterms:W3CDTF">2026-02-18T11:00:29Z</dcterms:created>
  <dcterms:modified xsi:type="dcterms:W3CDTF">2026-02-19T20:58:30Z</dcterms:modified>
</cp:coreProperties>
</file>